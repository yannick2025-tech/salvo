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i-programming-practic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i-programming-practic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3027929" y="2213610"/>
            <a:ext cx="6136142" cy="2476691"/>
            <a:chOff x="3027929" y="2213610"/>
            <a:chExt cx="6136142" cy="2476691"/>
          </a:xfrm>
        </p:grpSpPr>
        <p:sp>
          <p:nvSpPr>
            <p:cNvPr id="2" name="TextBox 2"/>
            <p:cNvSpPr txBox="1"/>
            <p:nvPr/>
          </p:nvSpPr>
          <p:spPr>
            <a:xfrm>
              <a:off x="3027929" y="2213610"/>
              <a:ext cx="613614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时代的编程平权实践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027170" y="3044190"/>
              <a:ext cx="41376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从不会写代码到独立开发性能测试平台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4403446" y="3425190"/>
              <a:ext cx="3385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AI 时代的问题定义与质量管控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143500" y="4000500"/>
              <a:ext cx="1905000" cy="2857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5725668" y="44262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技术分享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5884" y="470535"/>
            <a:ext cx="754380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背景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914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609600" y="1524000"/>
            <a:ext cx="10972800" cy="2857500"/>
            <a:chOff x="609600" y="1524000"/>
            <a:chExt cx="10972800" cy="2857500"/>
          </a:xfrm>
        </p:grpSpPr>
        <p:sp>
          <p:nvSpPr>
            <p:cNvPr id="5" name="Rectangle 5"/>
            <p:cNvSpPr/>
            <p:nvPr/>
          </p:nvSpPr>
          <p:spPr>
            <a:xfrm>
              <a:off x="609600" y="1524000"/>
              <a:ext cx="5143500" cy="1524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1342" y="17211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身份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29056" y="197739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测试和流程优化经理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29056" y="235839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不是专职开发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104" y="2727960"/>
              <a:ext cx="25851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借助 AI 能力，从 0 到 1 构建 Salvo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438900" y="1524000"/>
              <a:ext cx="5143500" cy="1524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60642" y="17211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项目规模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651498" y="1907858"/>
              <a:ext cx="15034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~7 万行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60642" y="2483168"/>
              <a:ext cx="3268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Go 4 万行 + Vue 1.4 万行 + TS 1300 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3619500"/>
              <a:ext cx="10972800" cy="762000"/>
            </a:xfrm>
            <a:prstGeom prst="roundRect">
              <a:avLst>
                <a:gd name="adj" fmla="val 10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27170" y="3758565"/>
              <a:ext cx="41376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今天分享的不是技术细节，而是方法论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54829" y="4109085"/>
              <a:ext cx="22823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8 个可复用的 AI 编程实践方法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5884" y="470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核心观点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914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3275990" y="2136458"/>
            <a:ext cx="5640019" cy="1069276"/>
            <a:chOff x="3275990" y="2136458"/>
            <a:chExt cx="5640019" cy="1069276"/>
          </a:xfrm>
        </p:grpSpPr>
        <p:sp>
          <p:nvSpPr>
            <p:cNvPr id="5" name="TextBox 5"/>
            <p:cNvSpPr txBox="1"/>
            <p:nvPr/>
          </p:nvSpPr>
          <p:spPr>
            <a:xfrm>
              <a:off x="4230647" y="2136458"/>
              <a:ext cx="37307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拉平了技术 GAP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275990" y="2853690"/>
              <a:ext cx="56400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问题不再是"能不能实现"，而是"是否定义清楚问题"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843735" y="4000500"/>
            <a:ext cx="8966302" cy="1152906"/>
            <a:chOff x="1843735" y="4000500"/>
            <a:chExt cx="8966302" cy="1152906"/>
          </a:xfrm>
        </p:grpSpPr>
        <p:sp>
          <p:nvSpPr>
            <p:cNvPr id="8" name="Rectangle 8"/>
            <p:cNvSpPr/>
            <p:nvPr/>
          </p:nvSpPr>
          <p:spPr>
            <a:xfrm>
              <a:off x="2286000" y="4000500"/>
              <a:ext cx="7620000" cy="571500"/>
            </a:xfrm>
            <a:prstGeom prst="roundRect">
              <a:avLst>
                <a:gd name="adj" fmla="val 1333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057780" y="4200525"/>
              <a:ext cx="2076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接下来分享 8 个方法论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1843735" y="4918710"/>
              <a:ext cx="8966302" cy="234696"/>
              <a:chOff x="1843735" y="4918710"/>
              <a:chExt cx="8966302" cy="234696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1843735" y="4918710"/>
                <a:ext cx="88453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01 定义问题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2986735" y="4918710"/>
                <a:ext cx="88453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02 知识沉淀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4048963" y="4918710"/>
                <a:ext cx="10460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03 流水线管控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191963" y="4918710"/>
                <a:ext cx="10460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04 高标准审美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6254191" y="4918710"/>
                <a:ext cx="120761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05 懒是第一动力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558735" y="4918710"/>
                <a:ext cx="88453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06 评估分离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701735" y="4918710"/>
                <a:ext cx="88453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07 质量画像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763963" y="4918710"/>
                <a:ext cx="10460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08 工程化流程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方法论一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3313676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为什么要做 Salvo？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4094900" y="2326958"/>
            <a:ext cx="4002200" cy="2376487"/>
            <a:chOff x="4094900" y="2326958"/>
            <a:chExt cx="4002200" cy="2376487"/>
          </a:xfrm>
        </p:grpSpPr>
        <p:sp>
          <p:nvSpPr>
            <p:cNvPr id="7" name="TextBox 7"/>
            <p:cNvSpPr txBox="1"/>
            <p:nvPr/>
          </p:nvSpPr>
          <p:spPr>
            <a:xfrm>
              <a:off x="4094900" y="2326958"/>
              <a:ext cx="400220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性能工具 1.0 的困境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166502" y="3044190"/>
              <a:ext cx="38589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6 大痛点驱动我们重新思考性能测试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44438" y="3611880"/>
              <a:ext cx="303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472940" y="441007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定义清楚问题，才能找到正确的解法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方法论一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42255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6 大痛点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609600" y="1619250"/>
            <a:ext cx="10972800" cy="381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546860" y="173736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痛点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38979" y="1737360"/>
            <a:ext cx="666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1.0 问题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90000" y="1737360"/>
            <a:ext cx="114599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Salvo 解决方案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09600" y="2000250"/>
            <a:ext cx="1097280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253300" y="2235518"/>
            <a:ext cx="92240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场景不通用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94125" y="2251710"/>
            <a:ext cx="195574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测试场景内置在 Go 代码中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73035" y="2251710"/>
            <a:ext cx="217993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YAML 配置驱动，零代码适配</a:t>
            </a:r>
          </a:p>
        </p:txBody>
      </p:sp>
      <p:sp>
        <p:nvSpPr>
          <p:cNvPr id="15" name="Rectangle 15"/>
          <p:cNvSpPr/>
          <p:nvPr/>
        </p:nvSpPr>
        <p:spPr>
          <a:xfrm>
            <a:off x="609600" y="2667000"/>
            <a:ext cx="10972800" cy="666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253300" y="2902268"/>
            <a:ext cx="92240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资源消耗高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635654" y="2918460"/>
            <a:ext cx="187269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12 万协程，4C8G 被打爆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868412" y="2918460"/>
            <a:ext cx="17891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按需调度，精确控制并发</a:t>
            </a:r>
          </a:p>
        </p:txBody>
      </p:sp>
      <p:sp>
        <p:nvSpPr>
          <p:cNvPr id="19" name="Rectangle 19"/>
          <p:cNvSpPr/>
          <p:nvPr/>
        </p:nvSpPr>
        <p:spPr>
          <a:xfrm>
            <a:off x="609600" y="3333750"/>
            <a:ext cx="1097280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253300" y="3569018"/>
            <a:ext cx="92240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扩展成本高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495675" y="3585210"/>
            <a:ext cx="21526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新增业务改 16 文件 / 80 函数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185099" y="3585210"/>
            <a:ext cx="11558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只改一个 YAML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09600" y="4000500"/>
            <a:ext cx="10972800" cy="666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344168" y="4235768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无法停止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000500" y="4251960"/>
            <a:ext cx="11430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一旦运行不能停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533208" y="4251960"/>
            <a:ext cx="245958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按次数 / 时长两种模式，随时停止</a:t>
            </a:r>
          </a:p>
        </p:txBody>
      </p:sp>
      <p:sp>
        <p:nvSpPr>
          <p:cNvPr id="27" name="Rectangle 27"/>
          <p:cNvSpPr/>
          <p:nvPr/>
        </p:nvSpPr>
        <p:spPr>
          <a:xfrm>
            <a:off x="609600" y="4667250"/>
            <a:ext cx="1097280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344168" y="4902518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报告分散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519373" y="4918710"/>
            <a:ext cx="210525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AWK + EXCEL + Prometheus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988808" y="4918710"/>
            <a:ext cx="154838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自动生成 HTML 报告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09600" y="5334000"/>
            <a:ext cx="10972800" cy="666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1344168" y="5569268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并发崩溃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729914" y="5585460"/>
            <a:ext cx="168417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go map 并发读写 panic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191500" y="5585460"/>
            <a:ext cx="11430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完善的并发控制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方法论一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关键洞察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2286000" y="2476500"/>
            <a:ext cx="7620000" cy="1714500"/>
            <a:chOff x="2286000" y="2476500"/>
            <a:chExt cx="7620000" cy="1714500"/>
          </a:xfrm>
        </p:grpSpPr>
        <p:sp>
          <p:nvSpPr>
            <p:cNvPr id="7" name="Rectangle 7"/>
            <p:cNvSpPr/>
            <p:nvPr/>
          </p:nvSpPr>
          <p:spPr>
            <a:xfrm>
              <a:off x="2286000" y="2476500"/>
              <a:ext cx="7620000" cy="1714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535680" y="2707958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定义问题比解决问题更重要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275430" y="3425190"/>
              <a:ext cx="364114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先把需求定义清楚，AI 帮你实现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方法论一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前后对比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1333500" y="1905000"/>
            <a:ext cx="4191000" cy="3048000"/>
          </a:xfrm>
          <a:prstGeom prst="roundRect">
            <a:avLst>
              <a:gd name="adj" fmla="val 2500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012724" y="2124075"/>
            <a:ext cx="83255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1.0 时代</a:t>
            </a:r>
          </a:p>
        </p:txBody>
      </p:sp>
      <p:sp>
        <p:nvSpPr>
          <p:cNvPr id="9" name="Rectangle 9"/>
          <p:cNvSpPr/>
          <p:nvPr/>
        </p:nvSpPr>
        <p:spPr>
          <a:xfrm>
            <a:off x="2476500" y="2476500"/>
            <a:ext cx="1905000" cy="190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058668" y="2711768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新增业务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926080" y="2849880"/>
            <a:ext cx="1005840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周级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75763" y="3489960"/>
            <a:ext cx="150647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改 16 文件 / 80 函数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019044" y="3870960"/>
            <a:ext cx="81991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几千行代码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99252" y="2910840"/>
            <a:ext cx="393497" cy="933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80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15" name="Rectangle 15"/>
          <p:cNvSpPr/>
          <p:nvPr/>
        </p:nvSpPr>
        <p:spPr>
          <a:xfrm>
            <a:off x="6667500" y="1905000"/>
            <a:ext cx="4191000" cy="3048000"/>
          </a:xfrm>
          <a:prstGeom prst="roundRect">
            <a:avLst>
              <a:gd name="adj" fmla="val 2500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250966" y="2124075"/>
            <a:ext cx="102406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Salvo 时代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810500" y="2476500"/>
            <a:ext cx="1905000" cy="19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392668" y="2711768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新增业务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017764" y="2849880"/>
            <a:ext cx="1490472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分钟级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185099" y="3489960"/>
            <a:ext cx="11558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只改一个 YAML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53044" y="3870960"/>
            <a:ext cx="81991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零代码适配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理论基础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209743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腾讯 AI Team 的实践启示</a:t>
            </a:r>
          </a:p>
        </p:txBody>
      </p:sp>
      <p:sp>
        <p:nvSpPr>
          <p:cNvPr id="8" name="Rectangle 8"/>
          <p:cNvSpPr/>
          <p:nvPr/>
        </p:nvSpPr>
        <p:spPr>
          <a:xfrm>
            <a:off x="1333500" y="2095500"/>
            <a:ext cx="9525000" cy="1143000"/>
          </a:xfrm>
          <a:prstGeom prst="roundRect">
            <a:avLst>
              <a:gd name="adj" fmla="val 6667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1333500" y="2095500"/>
            <a:ext cx="57150" cy="1143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705356" y="2282190"/>
            <a:ext cx="4888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i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"工作流只是管道，知识才是流过管道的活水"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08404" y="2727960"/>
            <a:ext cx="11251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— 腾讯 AI Team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33500" y="3619500"/>
            <a:ext cx="9525000" cy="1524000"/>
            <a:chOff x="1333500" y="3619500"/>
            <a:chExt cx="9525000" cy="1524000"/>
          </a:xfrm>
        </p:grpSpPr>
        <p:sp>
          <p:nvSpPr>
            <p:cNvPr id="12" name="Rectangle 12"/>
            <p:cNvSpPr/>
            <p:nvPr/>
          </p:nvSpPr>
          <p:spPr>
            <a:xfrm>
              <a:off x="1333500" y="3619500"/>
              <a:ext cx="2857500" cy="1524000"/>
            </a:xfrm>
            <a:prstGeom prst="roundRect">
              <a:avLst>
                <a:gd name="adj" fmla="val 5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482786" y="38547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33066" y="42519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可替换的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61617" y="4553902"/>
              <a:ext cx="16012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 16 阶段，明天 DAG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667250" y="3619500"/>
              <a:ext cx="2857500" cy="1524000"/>
            </a:xfrm>
            <a:prstGeom prst="roundRect">
              <a:avLst>
                <a:gd name="adj" fmla="val 5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07405" y="38547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知识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66816" y="42519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可累积的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454587" y="45539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跨项目、跨时间复用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001000" y="3619500"/>
              <a:ext cx="2857500" cy="1524000"/>
            </a:xfrm>
            <a:prstGeom prst="roundRect">
              <a:avLst>
                <a:gd name="adj" fmla="val 5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59418" y="38547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复利资产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777478" y="42519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团队的知识护城河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929688" y="45539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越积累越有价值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2532677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4 层知识库结构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3" name="Group 23"/>
          <p:cNvGrpSpPr/>
          <p:nvPr/>
        </p:nvGrpSpPr>
        <p:grpSpPr>
          <a:xfrm>
            <a:off x="2286000" y="2095500"/>
            <a:ext cx="7620000" cy="3619500"/>
            <a:chOff x="2286000" y="2095500"/>
            <a:chExt cx="7620000" cy="3619500"/>
          </a:xfrm>
        </p:grpSpPr>
        <p:sp>
          <p:nvSpPr>
            <p:cNvPr id="7" name="Rectangle 7"/>
            <p:cNvSpPr/>
            <p:nvPr/>
          </p:nvSpPr>
          <p:spPr>
            <a:xfrm>
              <a:off x="2286000" y="2095500"/>
              <a:ext cx="7620000" cy="762000"/>
            </a:xfrm>
            <a:prstGeom prst="roundRect">
              <a:avLst>
                <a:gd name="adj" fmla="val 1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659380" y="2314575"/>
              <a:ext cx="16022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L1-conventions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61666" y="260127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团队约定（强约束）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014926" y="2410778"/>
              <a:ext cx="11344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coding-style.md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2286000" y="3048000"/>
              <a:ext cx="7620000" cy="762000"/>
            </a:xfrm>
            <a:prstGeom prst="roundRect">
              <a:avLst>
                <a:gd name="adj" fmla="val 1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659380" y="3267075"/>
              <a:ext cx="12527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L2-business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61666" y="3553778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业务知识（领域模型）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880642" y="3363278"/>
              <a:ext cx="12686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domain-models.md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286000" y="4000500"/>
              <a:ext cx="7620000" cy="76200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659380" y="4219575"/>
              <a:ext cx="1136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L3-project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61666" y="4506278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项目知识（已知陷阱）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61236" y="4315778"/>
              <a:ext cx="788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pitfalls.md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286000" y="4953000"/>
              <a:ext cx="7620000" cy="762000"/>
            </a:xfrm>
            <a:prstGeom prst="roundRect">
              <a:avLst>
                <a:gd name="adj" fmla="val 1000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659380" y="5172075"/>
              <a:ext cx="14545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L4-workflows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61666" y="5458778"/>
              <a:ext cx="10337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工作流（SOP）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56589" y="5268278"/>
              <a:ext cx="16927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codegraph-workflow.md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4686375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Lessons Learned 沉淀机制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107687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8 个详细案例</a:t>
            </a:r>
          </a:p>
        </p:txBody>
      </p:sp>
      <p:grpSp>
        <p:nvGrpSpPr>
          <p:cNvPr id="48" name="Group 48"/>
          <p:cNvGrpSpPr/>
          <p:nvPr/>
        </p:nvGrpSpPr>
        <p:grpSpPr>
          <a:xfrm>
            <a:off x="609600" y="1905000"/>
            <a:ext cx="10972800" cy="4000500"/>
            <a:chOff x="609600" y="1905000"/>
            <a:chExt cx="10972800" cy="4000500"/>
          </a:xfrm>
        </p:grpSpPr>
        <p:sp>
          <p:nvSpPr>
            <p:cNvPr id="8" name="Rectangle 8"/>
            <p:cNvSpPr/>
            <p:nvPr/>
          </p:nvSpPr>
          <p:spPr>
            <a:xfrm>
              <a:off x="609600" y="190500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2866" y="205835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104" y="22517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前端首屏性能优化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3247" y="2485549"/>
              <a:ext cx="18371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5 轮排查迭代，时间戳日志定位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475259" y="2315528"/>
              <a:ext cx="8640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10s → 116ms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438900" y="190500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62166" y="205835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61404" y="22517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链路跟踪色块溢出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2547" y="2485549"/>
              <a:ext cx="24043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可视化调试：全局边框扫描 + 祖先链追踪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04924" y="2315528"/>
              <a:ext cx="6637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2h → 5min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295275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2866" y="310610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2104" y="3299460"/>
              <a:ext cx="15158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Goroutine 吞没错误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3247" y="3533299"/>
              <a:ext cx="20086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safeGo + atomic.Value 错误传播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51230" y="3363278"/>
              <a:ext cx="8881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静默 → 可观测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438900" y="295275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62166" y="310610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661404" y="3299460"/>
              <a:ext cx="14248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DAG AND-join 阻塞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2547" y="3533299"/>
              <a:ext cx="10650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OR-join 语义设计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09860" y="336327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分支正常汇合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400050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2866" y="415385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104" y="4347210"/>
              <a:ext cx="1175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dagre 布局重叠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3247" y="4581049"/>
              <a:ext cx="18150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替换为 ELK（支持变长节点）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763262" y="44110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一键美化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38900" y="400050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62166" y="415385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61404" y="4347210"/>
              <a:ext cx="12754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 推送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62547" y="4581049"/>
              <a:ext cx="26200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ReadPump/WritePump 分离 + channel 管理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592562" y="44110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稳定实时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9600" y="504825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32866" y="520160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7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2104" y="5394960"/>
              <a:ext cx="16945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Go 1.26.2 运行时 bug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3247" y="5628799"/>
              <a:ext cx="17909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堆栈分析区分应用/运行时 bug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339209" y="545877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识别标准库问题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38900" y="5048250"/>
              <a:ext cx="5143500" cy="857250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62166" y="5201602"/>
              <a:ext cx="632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 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61404" y="5394960"/>
              <a:ext cx="12688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多字段 AND 查询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62547" y="5628799"/>
              <a:ext cx="21616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双套实现：Vue computed + 原生 JS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451211" y="545877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前后端一致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效果对比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1333500" y="2095500"/>
            <a:ext cx="9525000" cy="2857500"/>
            <a:chOff x="1333500" y="2095500"/>
            <a:chExt cx="9525000" cy="2857500"/>
          </a:xfrm>
        </p:grpSpPr>
        <p:sp>
          <p:nvSpPr>
            <p:cNvPr id="7" name="Rectangle 7"/>
            <p:cNvSpPr/>
            <p:nvPr/>
          </p:nvSpPr>
          <p:spPr>
            <a:xfrm>
              <a:off x="1333500" y="2095500"/>
              <a:ext cx="4572000" cy="1333500"/>
            </a:xfrm>
            <a:prstGeom prst="roundRect">
              <a:avLst>
                <a:gd name="adj" fmla="val 5714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08404" y="23469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知识库总计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96212" y="2468880"/>
              <a:ext cx="17933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1660 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9166" y="3029902"/>
              <a:ext cx="10636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L1-L4 四层知识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172829" y="2470785"/>
              <a:ext cx="227343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667500" y="2095500"/>
              <a:ext cx="4191000" cy="1333500"/>
            </a:xfrm>
            <a:prstGeom prst="roundRect">
              <a:avLst>
                <a:gd name="adj" fmla="val 5714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042404" y="23469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按需加载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030212" y="2468880"/>
              <a:ext cx="23531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75~261 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43166" y="3029902"/>
              <a:ext cx="13464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最多节省 85% 上下文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333500" y="3810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23803" y="3850958"/>
              <a:ext cx="27689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04753" y="4394835"/>
              <a:ext cx="13149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Lessons Learned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97659" y="465724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每个包含完整排查过程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667250" y="3810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57553" y="3850958"/>
              <a:ext cx="27689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686044" y="43948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成熟度标签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82990" y="4657249"/>
              <a:ext cx="16260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draft → verified → proven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0" y="3810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11081" y="3899535"/>
              <a:ext cx="237338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↑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728100" y="4394835"/>
              <a:ext cx="14032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准确性大幅提升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29014" y="465724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避免重复踩坑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核心观点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295852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AI 流水线质量管控：对抗 "AI Slop"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2286000" y="2286000"/>
            <a:ext cx="7620000" cy="1143000"/>
            <a:chOff x="2286000" y="2286000"/>
            <a:chExt cx="7620000" cy="1143000"/>
          </a:xfrm>
        </p:grpSpPr>
        <p:sp>
          <p:nvSpPr>
            <p:cNvPr id="8" name="Rectangle 8"/>
            <p:cNvSpPr/>
            <p:nvPr/>
          </p:nvSpPr>
          <p:spPr>
            <a:xfrm>
              <a:off x="2286000" y="2286000"/>
              <a:ext cx="7620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403446" y="2472690"/>
              <a:ext cx="3385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生成速度快，但信息密度低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61452" y="2886075"/>
              <a:ext cx="28690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容易产生 "AI Slop"（AI 垃圾）</a:t>
              </a:r>
            </a:p>
          </p:txBody>
        </p:sp>
      </p:grpSp>
      <p:sp>
        <p:nvSpPr>
          <p:cNvPr id="12" name="Rectangle 12"/>
          <p:cNvSpPr/>
          <p:nvPr/>
        </p:nvSpPr>
        <p:spPr>
          <a:xfrm>
            <a:off x="2286000" y="3810000"/>
            <a:ext cx="7620000" cy="762000"/>
          </a:xfrm>
          <a:prstGeom prst="roundRect">
            <a:avLst>
              <a:gd name="adj" fmla="val 10000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2286000" y="3810000"/>
            <a:ext cx="57150" cy="762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2660904" y="3966210"/>
            <a:ext cx="449275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i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"AI 产出速度越快，代码库越容易漂移，需要持续垃圾回收"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661666" y="4268152"/>
            <a:ext cx="94091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— OpenAI 实践</a:t>
            </a:r>
          </a:p>
        </p:txBody>
      </p:sp>
      <p:sp>
        <p:nvSpPr>
          <p:cNvPr id="16" name="Rectangle 16"/>
          <p:cNvSpPr/>
          <p:nvPr/>
        </p:nvSpPr>
        <p:spPr>
          <a:xfrm>
            <a:off x="2286000" y="4953000"/>
            <a:ext cx="7620000" cy="9525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4632960" y="5139690"/>
            <a:ext cx="292608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解决方案：流水线质量管控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485007" y="5537835"/>
            <a:ext cx="522198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上游输出是下游输入，每个环节都要 review，确保每阶段产出 90 分以上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844802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流水线模型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6" name="Group 26"/>
          <p:cNvGrpSpPr/>
          <p:nvPr/>
        </p:nvGrpSpPr>
        <p:grpSpPr>
          <a:xfrm>
            <a:off x="1333500" y="2476500"/>
            <a:ext cx="9334500" cy="952500"/>
            <a:chOff x="1333500" y="2476500"/>
            <a:chExt cx="9334500" cy="952500"/>
          </a:xfrm>
        </p:grpSpPr>
        <p:sp>
          <p:nvSpPr>
            <p:cNvPr id="7" name="Rectangle 7"/>
            <p:cNvSpPr/>
            <p:nvPr/>
          </p:nvSpPr>
          <p:spPr>
            <a:xfrm>
              <a:off x="1333500" y="2476500"/>
              <a:ext cx="1905000" cy="952500"/>
            </a:xfrm>
            <a:prstGeom prst="roundRect">
              <a:avLst>
                <a:gd name="adj" fmla="val 8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975485" y="264795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架构师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97964" y="29822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代入角色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42478" y="3172778"/>
              <a:ext cx="8870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review ≥90分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435839" y="2773680"/>
              <a:ext cx="1768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476500"/>
              <a:ext cx="1905000" cy="952500"/>
            </a:xfrm>
            <a:prstGeom prst="roundRect">
              <a:avLst>
                <a:gd name="adj" fmla="val 8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552950" y="264795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产品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74464" y="29822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代入角色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18978" y="3172778"/>
              <a:ext cx="8870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review ≥90分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12339" y="2773680"/>
              <a:ext cx="1768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286500" y="2476500"/>
              <a:ext cx="1905000" cy="952500"/>
            </a:xfrm>
            <a:prstGeom prst="roundRect">
              <a:avLst>
                <a:gd name="adj" fmla="val 8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029450" y="264795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50964" y="29822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代入角色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795478" y="3172778"/>
              <a:ext cx="8870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review ≥90分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88839" y="2773680"/>
              <a:ext cx="1768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763000" y="2476500"/>
              <a:ext cx="1905000" cy="952500"/>
            </a:xfrm>
            <a:prstGeom prst="roundRect">
              <a:avLst>
                <a:gd name="adj" fmla="val 8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505950" y="264795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测试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27464" y="29822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代入角色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71978" y="3172778"/>
              <a:ext cx="8870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review ≥90分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333500" y="4191000"/>
            <a:ext cx="9525000" cy="2095500"/>
            <a:chOff x="1333500" y="4191000"/>
            <a:chExt cx="9525000" cy="2095500"/>
          </a:xfrm>
        </p:grpSpPr>
        <p:sp>
          <p:nvSpPr>
            <p:cNvPr id="27" name="Rectangle 27"/>
            <p:cNvSpPr/>
            <p:nvPr/>
          </p:nvSpPr>
          <p:spPr>
            <a:xfrm>
              <a:off x="1333500" y="4191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708404" y="4394835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上游输出是下游输入，信息多层传输容易丢失、错乱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333500" y="4953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708404" y="5156835"/>
              <a:ext cx="39942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每个环节必须代入具体角色 review，不能"差不多就行"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333500" y="5715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708404" y="591883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关注信息密度，不追求文档数量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2349962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DAG 引擎案例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154030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4 个环节的 review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609600" y="1905000"/>
            <a:ext cx="10972800" cy="3524250"/>
            <a:chOff x="609600" y="1905000"/>
            <a:chExt cx="10972800" cy="3524250"/>
          </a:xfrm>
        </p:grpSpPr>
        <p:sp>
          <p:nvSpPr>
            <p:cNvPr id="8" name="Rectangle 8"/>
            <p:cNvSpPr/>
            <p:nvPr/>
          </p:nvSpPr>
          <p:spPr>
            <a:xfrm>
              <a:off x="609600" y="1905000"/>
              <a:ext cx="10972800" cy="476250"/>
            </a:xfrm>
            <a:prstGeom prst="roundRect">
              <a:avLst>
                <a:gd name="adj" fmla="val 8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165860" y="20802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89860" y="20802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角色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293782" y="2080260"/>
              <a:ext cx="9374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review 重点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22607" y="2080260"/>
              <a:ext cx="10997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产出（≥90分）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09600" y="2381250"/>
              <a:ext cx="10972800" cy="762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44905" y="266414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架构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609088" y="268033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架构师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2844" y="2601278"/>
              <a:ext cx="8993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DAG 数据结构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4464" y="28394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执行模型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81772" y="268033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架构设计文档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3143250"/>
              <a:ext cx="10972800" cy="76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44905" y="342614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产品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28316" y="34423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产品经理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21087" y="336327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节点类型、用户体验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74464" y="36014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配置方式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081772" y="344233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产品需求文档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" y="3905250"/>
              <a:ext cx="10972800" cy="762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144905" y="418814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47544" y="42043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开发工程师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121087" y="412527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拓扑排序、条件分支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262438" y="43634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循环、并发控制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42530" y="4204335"/>
              <a:ext cx="16599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dag.go, executor.go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4667250"/>
              <a:ext cx="10972800" cy="76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44905" y="495014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447544" y="49663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测试工程师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121087" y="488727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边界条件、并发安全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74464" y="51254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异常处理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77733" y="4966335"/>
              <a:ext cx="9895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dag_test.go</a:t>
              </a:r>
            </a:p>
          </p:txBody>
        </p:sp>
      </p:grpSp>
      <p:sp>
        <p:nvSpPr>
          <p:cNvPr id="38" name="Rectangle 38"/>
          <p:cNvSpPr/>
          <p:nvPr/>
        </p:nvSpPr>
        <p:spPr>
          <a:xfrm>
            <a:off x="1333500" y="5905500"/>
            <a:ext cx="9525000" cy="571500"/>
          </a:xfrm>
          <a:prstGeom prst="roundRect">
            <a:avLst>
              <a:gd name="adj" fmla="val 13333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3448145" y="6109335"/>
            <a:ext cx="52957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每个环节 review 不合格，不往下传递 · 避免"AI 生成完就直接用"的陷阱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2571750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单元测试方法论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152110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AI 时代的 UT 实践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09600" y="1905000"/>
            <a:ext cx="5143500" cy="2857500"/>
            <a:chOff x="609600" y="1905000"/>
            <a:chExt cx="5143500" cy="2857500"/>
          </a:xfrm>
        </p:grpSpPr>
        <p:sp>
          <p:nvSpPr>
            <p:cNvPr id="8" name="Rectangle 8"/>
            <p:cNvSpPr/>
            <p:nvPr/>
          </p:nvSpPr>
          <p:spPr>
            <a:xfrm>
              <a:off x="609600" y="1905000"/>
              <a:ext cx="5143500" cy="2857500"/>
            </a:xfrm>
            <a:prstGeom prst="roundRect">
              <a:avLst>
                <a:gd name="adj" fmla="val 2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44880" y="2076450"/>
              <a:ext cx="14661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Salvo TDD 策略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6404" y="24898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测试金字塔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37666" y="2744152"/>
              <a:ext cx="9933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70% 单元测试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7666" y="2982278"/>
              <a:ext cx="9933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20% 集成测试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7666" y="3220402"/>
              <a:ext cx="11346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10% 端到端测试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6404" y="35852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覆盖率目标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7666" y="383952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≥ 80% 行覆盖率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404" y="420433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工具链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8047" y="4466749"/>
              <a:ext cx="22460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testing + testify + testcontainers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438900" y="1905000"/>
            <a:ext cx="5143500" cy="1333500"/>
            <a:chOff x="6438900" y="1905000"/>
            <a:chExt cx="5143500" cy="1333500"/>
          </a:xfrm>
        </p:grpSpPr>
        <p:sp>
          <p:nvSpPr>
            <p:cNvPr id="19" name="Rectangle 19"/>
            <p:cNvSpPr/>
            <p:nvPr/>
          </p:nvSpPr>
          <p:spPr>
            <a:xfrm>
              <a:off x="6438900" y="1905000"/>
              <a:ext cx="5143500" cy="1333500"/>
            </a:xfrm>
            <a:prstGeom prst="roundRect">
              <a:avLst>
                <a:gd name="adj" fmla="val 571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774180" y="2076450"/>
              <a:ext cx="10240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Salvo 实践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765798" y="2279332"/>
              <a:ext cx="52178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78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1880" y="245745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 _test.go 文件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75704" y="28232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每个模块都有对应测试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438900" y="3429000"/>
            <a:ext cx="5143500" cy="1905000"/>
            <a:chOff x="6438900" y="3429000"/>
            <a:chExt cx="5143500" cy="1905000"/>
          </a:xfrm>
        </p:grpSpPr>
        <p:sp>
          <p:nvSpPr>
            <p:cNvPr id="25" name="Rectangle 25"/>
            <p:cNvSpPr/>
            <p:nvPr/>
          </p:nvSpPr>
          <p:spPr>
            <a:xfrm>
              <a:off x="6438900" y="3429000"/>
              <a:ext cx="5143500" cy="1905000"/>
            </a:xfrm>
            <a:prstGeom prst="roundRect">
              <a:avLst>
                <a:gd name="adj" fmla="val 4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4942" y="3616642"/>
              <a:ext cx="25796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生成代码的"高频翻车清单"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76466" y="3982402"/>
              <a:ext cx="12548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边界条件处理偏弱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76466" y="4220528"/>
              <a:ext cx="14103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安全代码"看起来对"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76466" y="4458652"/>
              <a:ext cx="11134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模块间集成缝隙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76466" y="4696778"/>
              <a:ext cx="1537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非功能性需求靠人兜底</a:t>
              </a:r>
            </a:p>
          </p:txBody>
        </p:sp>
      </p:grpSp>
      <p:sp>
        <p:nvSpPr>
          <p:cNvPr id="32" name="Rectangle 32"/>
          <p:cNvSpPr/>
          <p:nvPr/>
        </p:nvSpPr>
        <p:spPr>
          <a:xfrm>
            <a:off x="1333500" y="5524500"/>
            <a:ext cx="9525000" cy="762000"/>
          </a:xfrm>
          <a:prstGeom prst="roundRect">
            <a:avLst>
              <a:gd name="adj" fmla="val 10000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4160660" y="5758815"/>
            <a:ext cx="387068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UT 是对抗 AI Slop 的最后一道防线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核心观点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3747706" y="2326958"/>
            <a:ext cx="4696587" cy="1450276"/>
            <a:chOff x="3747706" y="2326958"/>
            <a:chExt cx="4696587" cy="1450276"/>
          </a:xfrm>
        </p:grpSpPr>
        <p:sp>
          <p:nvSpPr>
            <p:cNvPr id="7" name="TextBox 7"/>
            <p:cNvSpPr txBox="1"/>
            <p:nvPr/>
          </p:nvSpPr>
          <p:spPr>
            <a:xfrm>
              <a:off x="3747706" y="2326958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高标准审美，不仅仅是快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004167" y="3044190"/>
              <a:ext cx="41836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减少 coding 成本 → 有更高标准要求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36212" y="3425190"/>
              <a:ext cx="391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不满足于"能跑"，持续追求更好体验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2734010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DAG 可视化演进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31" name="Group 31"/>
          <p:cNvGrpSpPr/>
          <p:nvPr/>
        </p:nvGrpSpPr>
        <p:grpSpPr>
          <a:xfrm>
            <a:off x="1333500" y="2095500"/>
            <a:ext cx="9525000" cy="799814"/>
            <a:chOff x="1333500" y="2095500"/>
            <a:chExt cx="9525000" cy="799814"/>
          </a:xfrm>
        </p:grpSpPr>
        <p:sp>
          <p:nvSpPr>
            <p:cNvPr id="7" name="Rectangle 7"/>
            <p:cNvSpPr/>
            <p:nvPr/>
          </p:nvSpPr>
          <p:spPr>
            <a:xfrm>
              <a:off x="1333500" y="2095500"/>
              <a:ext cx="1524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66854" y="2235518"/>
              <a:ext cx="4572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V1.0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45544" y="2514124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自定义 SVG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26692" y="27046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水平布局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72219" y="2329815"/>
              <a:ext cx="1515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238500" y="2095500"/>
              <a:ext cx="1524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771854" y="2235518"/>
              <a:ext cx="4572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V2.0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86660" y="2514124"/>
              <a:ext cx="8276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VueFlow 框架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31692" y="27046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节点拖拽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877219" y="2329815"/>
              <a:ext cx="1515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143500" y="2095500"/>
              <a:ext cx="1524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76854" y="2235518"/>
              <a:ext cx="4572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V2.1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6692" y="25141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拓扑排序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625241" y="2704624"/>
              <a:ext cx="5605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DFS 布局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782219" y="2329815"/>
              <a:ext cx="1515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048500" y="2095500"/>
              <a:ext cx="1524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81854" y="2235518"/>
              <a:ext cx="4572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V2.2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16574" y="2514124"/>
              <a:ext cx="5878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Sugiyama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73619" y="27046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布局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87219" y="2329815"/>
              <a:ext cx="1515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953500" y="2095500"/>
              <a:ext cx="1905000" cy="762000"/>
            </a:xfrm>
            <a:prstGeom prst="roundRect">
              <a:avLst>
                <a:gd name="adj" fmla="val 1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77354" y="2235518"/>
              <a:ext cx="4572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V3.0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25741" y="2514124"/>
              <a:ext cx="5605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ELK 布局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505264" y="270462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实时执行状态</a:t>
              </a:r>
            </a:p>
          </p:txBody>
        </p:sp>
      </p:grpSp>
      <p:sp>
        <p:nvSpPr>
          <p:cNvPr id="32" name="Rectangle 32"/>
          <p:cNvSpPr/>
          <p:nvPr/>
        </p:nvSpPr>
        <p:spPr>
          <a:xfrm>
            <a:off x="1333500" y="3238500"/>
            <a:ext cx="9525000" cy="762000"/>
          </a:xfrm>
          <a:prstGeom prst="roundRect">
            <a:avLst>
              <a:gd name="adj" fmla="val 10000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5291514" y="3409950"/>
            <a:ext cx="160897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3 轮深色模式优化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201412" y="3728085"/>
            <a:ext cx="17891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持续追求视觉体验的完美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2571750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高并发实时进度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3" name="Group 23"/>
          <p:cNvGrpSpPr/>
          <p:nvPr/>
        </p:nvGrpSpPr>
        <p:grpSpPr>
          <a:xfrm>
            <a:off x="1333500" y="2095500"/>
            <a:ext cx="9525000" cy="2476500"/>
            <a:chOff x="1333500" y="2095500"/>
            <a:chExt cx="9525000" cy="2476500"/>
          </a:xfrm>
        </p:grpSpPr>
        <p:sp>
          <p:nvSpPr>
            <p:cNvPr id="7" name="Rectangle 7"/>
            <p:cNvSpPr/>
            <p:nvPr/>
          </p:nvSpPr>
          <p:spPr>
            <a:xfrm>
              <a:off x="1333500" y="20955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07642" y="228314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聚合视图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08404" y="258508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按节点聚合展示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8404" y="2823210"/>
              <a:ext cx="17326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通过/失败/跳过/运行中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286500" y="20955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60642" y="22831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单链路视图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61404" y="258508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选择具体链路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61404" y="28232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查看循环进度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333500" y="34290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707642" y="36166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高并发优化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08404" y="391858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链路选择器冻结快照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08404" y="4156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防止跳动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4290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60642" y="361664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实时推送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61404" y="3918585"/>
              <a:ext cx="15579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 实时推送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61404" y="415671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200ms 节流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4169390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质量数据与 UX 细节打磨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2286000" y="2095500"/>
            <a:ext cx="7620000" cy="1333500"/>
            <a:chOff x="2286000" y="2095500"/>
            <a:chExt cx="7620000" cy="1333500"/>
          </a:xfrm>
        </p:grpSpPr>
        <p:sp>
          <p:nvSpPr>
            <p:cNvPr id="7" name="Rectangle 7"/>
            <p:cNvSpPr/>
            <p:nvPr/>
          </p:nvSpPr>
          <p:spPr>
            <a:xfrm>
              <a:off x="2286000" y="2095500"/>
              <a:ext cx="7620000" cy="1333500"/>
            </a:xfrm>
            <a:prstGeom prst="roundRect">
              <a:avLst>
                <a:gd name="adj" fmla="val 571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561419" y="2330768"/>
              <a:ext cx="10691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Git 提交统计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285587" y="2564130"/>
              <a:ext cx="87620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36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206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63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次提交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70462" y="2564130"/>
              <a:ext cx="59632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36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31380" y="2790825"/>
              <a:ext cx="8936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 bugfix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027752" y="3156585"/>
              <a:ext cx="2136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占比 45%，体现持续追求质量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33500" y="4000500"/>
            <a:ext cx="9525000" cy="1143000"/>
            <a:chOff x="1333500" y="4000500"/>
            <a:chExt cx="9525000" cy="1143000"/>
          </a:xfrm>
        </p:grpSpPr>
        <p:sp>
          <p:nvSpPr>
            <p:cNvPr id="15" name="Rectangle 15"/>
            <p:cNvSpPr/>
            <p:nvPr/>
          </p:nvSpPr>
          <p:spPr>
            <a:xfrm>
              <a:off x="1333500" y="40005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271522" y="420433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执行状态徽章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74214" y="45062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位置优化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74214" y="47444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避免遮挡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667250" y="40005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766816" y="42043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图标升级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55263" y="4506278"/>
              <a:ext cx="14814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文字徽章 → Lucide SVG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37288" y="47444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视觉一致性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40005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00566" y="42043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深色模式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152315" y="4506278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3 轮迭代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929688" y="47444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颜色对比度优化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核心观点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4403446" y="2326958"/>
            <a:ext cx="3385109" cy="1069276"/>
            <a:chOff x="4403446" y="2326958"/>
            <a:chExt cx="3385109" cy="1069276"/>
          </a:xfrm>
        </p:grpSpPr>
        <p:sp>
          <p:nvSpPr>
            <p:cNvPr id="7" name="TextBox 7"/>
            <p:cNvSpPr txBox="1"/>
            <p:nvPr/>
          </p:nvSpPr>
          <p:spPr>
            <a:xfrm>
              <a:off x="4807839" y="2326958"/>
              <a:ext cx="257632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懒是第一动力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403446" y="3044190"/>
              <a:ext cx="3385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助力，让繁琐工作变得高效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333500" y="4191000"/>
            <a:ext cx="9525000" cy="1143000"/>
            <a:chOff x="1333500" y="4191000"/>
            <a:chExt cx="9525000" cy="1143000"/>
          </a:xfrm>
        </p:grpSpPr>
        <p:sp>
          <p:nvSpPr>
            <p:cNvPr id="10" name="Rectangle 10"/>
            <p:cNvSpPr/>
            <p:nvPr/>
          </p:nvSpPr>
          <p:spPr>
            <a:xfrm>
              <a:off x="1333500" y="4191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359433" y="4378642"/>
              <a:ext cx="8056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scripts/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52294" y="468058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自动化脚本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191512" y="498252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一键执行复杂任务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667250" y="4191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95185" y="4378642"/>
              <a:ext cx="8016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Makefile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686044" y="468058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自动化构建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37288" y="49825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标准化流程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01000" y="4191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59418" y="437864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文档生成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100566" y="46805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自动生成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00363" y="49825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减少手动维护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效率提升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2" name="Group 22"/>
          <p:cNvGrpSpPr/>
          <p:nvPr/>
        </p:nvGrpSpPr>
        <p:grpSpPr>
          <a:xfrm>
            <a:off x="1333500" y="2095500"/>
            <a:ext cx="9525000" cy="2667000"/>
            <a:chOff x="1333500" y="2095500"/>
            <a:chExt cx="9525000" cy="2667000"/>
          </a:xfrm>
        </p:grpSpPr>
        <p:sp>
          <p:nvSpPr>
            <p:cNvPr id="7" name="Rectangle 7"/>
            <p:cNvSpPr/>
            <p:nvPr/>
          </p:nvSpPr>
          <p:spPr>
            <a:xfrm>
              <a:off x="1333500" y="2095500"/>
              <a:ext cx="4572000" cy="2667000"/>
            </a:xfrm>
            <a:prstGeom prst="roundRect">
              <a:avLst>
                <a:gd name="adj" fmla="val 285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409950" y="23145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以前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476500" y="2667000"/>
              <a:ext cx="2286000" cy="1905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249168" y="29022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人写脚本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209544" y="32994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心智负担重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290316" y="36804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容易出错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209544" y="40614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维护成本高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899252" y="2910840"/>
              <a:ext cx="393497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667500" y="2095500"/>
              <a:ext cx="4191000" cy="2667000"/>
            </a:xfrm>
            <a:prstGeom prst="roundRect">
              <a:avLst>
                <a:gd name="adj" fmla="val 285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53450" y="23145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810500" y="2667000"/>
              <a:ext cx="1905000" cy="190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53704" y="2902268"/>
              <a:ext cx="6185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AI 助力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91500" y="32994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高效且保障质量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53044" y="36804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自动化生成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33816" y="40614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易于维护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方法论六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核心观点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273085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评估与实现分离：不盲目相信 AI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2286000" y="2286000"/>
            <a:ext cx="7620000" cy="1143000"/>
            <a:chOff x="2286000" y="2286000"/>
            <a:chExt cx="7620000" cy="1143000"/>
          </a:xfrm>
        </p:grpSpPr>
        <p:sp>
          <p:nvSpPr>
            <p:cNvPr id="8" name="Rectangle 8"/>
            <p:cNvSpPr/>
            <p:nvPr/>
          </p:nvSpPr>
          <p:spPr>
            <a:xfrm>
              <a:off x="2286000" y="2286000"/>
              <a:ext cx="7620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989576" y="2472690"/>
              <a:ext cx="22128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Anthropic 最佳实践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7111" y="2886075"/>
              <a:ext cx="49577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 会高估自己的工作质量，必须将生成和评估分离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33500" y="4191000"/>
            <a:ext cx="9525000" cy="2095500"/>
            <a:chOff x="1333500" y="4191000"/>
            <a:chExt cx="9525000" cy="2095500"/>
          </a:xfrm>
        </p:grpSpPr>
        <p:sp>
          <p:nvSpPr>
            <p:cNvPr id="12" name="Rectangle 12"/>
            <p:cNvSpPr/>
            <p:nvPr/>
          </p:nvSpPr>
          <p:spPr>
            <a:xfrm>
              <a:off x="1333500" y="4191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08404" y="4394835"/>
              <a:ext cx="27745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同一次会话中"自己审自己"会自我原谅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333500" y="4953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708404" y="5156835"/>
              <a:ext cx="58923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多方案对比：让 AI 给多套方案，不选工作量小的，而选对需求完成度最有利的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333500" y="5715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708404" y="5918835"/>
              <a:ext cx="5917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独立评估会话：用另一个 AI 会话来评估方案合理性，追问原理，不完全相信 AI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方法论六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实践案例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9" name="Group 29"/>
          <p:cNvGrpSpPr/>
          <p:nvPr/>
        </p:nvGrpSpPr>
        <p:grpSpPr>
          <a:xfrm>
            <a:off x="609600" y="1905000"/>
            <a:ext cx="10972800" cy="3048000"/>
            <a:chOff x="609600" y="1905000"/>
            <a:chExt cx="10972800" cy="3048000"/>
          </a:xfrm>
        </p:grpSpPr>
        <p:sp>
          <p:nvSpPr>
            <p:cNvPr id="7" name="Rectangle 7"/>
            <p:cNvSpPr/>
            <p:nvPr/>
          </p:nvSpPr>
          <p:spPr>
            <a:xfrm>
              <a:off x="609600" y="1905000"/>
              <a:ext cx="10972800" cy="476250"/>
            </a:xfrm>
            <a:prstGeom prst="roundRect">
              <a:avLst>
                <a:gd name="adj" fmla="val 8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37360" y="20802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场景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814316" y="20802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实现会话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433816" y="20802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评估会话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2381250"/>
              <a:ext cx="10972800" cy="857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17509" y="2711768"/>
              <a:ext cx="11749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DAG 引擎设计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72762" y="26489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实现拓扑排序算法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02086" y="288702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专注编码，快速迭代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62938" y="26489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评估算法正确性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33613" y="28870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边界条件审查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3238500"/>
              <a:ext cx="10972800" cy="8572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352931" y="35690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加密插件开发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07154" y="3506152"/>
              <a:ext cx="12726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实现 AES-CBC 加密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02086" y="374427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专注编码，快速迭代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04288" y="35061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评估安全性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262" y="374427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性能、兼容性审查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4095750"/>
              <a:ext cx="10972800" cy="857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352931" y="4426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前端组件重构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47413" y="4363402"/>
              <a:ext cx="13921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重构 DAG 可视化组件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2086" y="460152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专注编码，快速迭代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33613" y="43634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评估用户体验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33613" y="46015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性能影响审查</a:t>
              </a:r>
            </a:p>
          </p:txBody>
        </p:sp>
      </p:grpSp>
      <p:sp>
        <p:nvSpPr>
          <p:cNvPr id="30" name="Rectangle 30"/>
          <p:cNvSpPr/>
          <p:nvPr/>
        </p:nvSpPr>
        <p:spPr>
          <a:xfrm>
            <a:off x="1333500" y="5524500"/>
            <a:ext cx="9525000" cy="762000"/>
          </a:xfrm>
          <a:prstGeom prst="roundRect">
            <a:avLst>
              <a:gd name="adj" fmla="val 10000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735400" y="5728335"/>
            <a:ext cx="47212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实现会话：专注编码，快速迭代 · 评估会话：专注审查，发现问题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797552" y="6014085"/>
            <a:ext cx="259689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人工介入：看代码、问原理、做决策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方法论六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148132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关键原则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3" name="Group 23"/>
          <p:cNvGrpSpPr/>
          <p:nvPr/>
        </p:nvGrpSpPr>
        <p:grpSpPr>
          <a:xfrm>
            <a:off x="1333500" y="2095500"/>
            <a:ext cx="9525000" cy="2476500"/>
            <a:chOff x="1333500" y="2095500"/>
            <a:chExt cx="9525000" cy="2476500"/>
          </a:xfrm>
        </p:grpSpPr>
        <p:sp>
          <p:nvSpPr>
            <p:cNvPr id="7" name="Rectangle 7"/>
            <p:cNvSpPr/>
            <p:nvPr/>
          </p:nvSpPr>
          <p:spPr>
            <a:xfrm>
              <a:off x="1333500" y="20955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07642" y="228314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088642" y="2283142"/>
              <a:ext cx="1740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可以 24 小时工作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8404" y="26327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但人必须保持清醒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286500" y="20955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60642" y="228314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41642" y="2283142"/>
              <a:ext cx="14957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不追求"最快完成"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61404" y="2632710"/>
              <a:ext cx="13206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而追求"最好完成"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333500" y="34290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707642" y="361664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88642" y="36166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多方案对比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08404" y="39662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是成本最低的优化方式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429000"/>
              <a:ext cx="4572000" cy="11430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60642" y="361664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41642" y="361664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追问原理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61404" y="39662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是建立技术判断力的关键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方法论七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471569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AI 生成代码的高频翻车清单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278846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知道 AI 会在哪里翻车，提前设防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33500" y="2095500"/>
            <a:ext cx="9525000" cy="3619500"/>
            <a:chOff x="1333500" y="2095500"/>
            <a:chExt cx="9525000" cy="3619500"/>
          </a:xfrm>
        </p:grpSpPr>
        <p:sp>
          <p:nvSpPr>
            <p:cNvPr id="8" name="Rectangle 8"/>
            <p:cNvSpPr/>
            <p:nvPr/>
          </p:nvSpPr>
          <p:spPr>
            <a:xfrm>
              <a:off x="1333500" y="2095500"/>
              <a:ext cx="9525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06880" y="22669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183892" y="22831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边界条件处理偏弱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08404" y="258508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空值、极端输入、并发场景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333500" y="3048000"/>
              <a:ext cx="9525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06880" y="32194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83892" y="3235642"/>
              <a:ext cx="16775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安全代码"看起来对"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08404" y="3537585"/>
              <a:ext cx="25895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SQL 拼接、XSS 过滤存在绕过路径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333500" y="4000500"/>
              <a:ext cx="9525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706880" y="41719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83892" y="41881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模块间集成缝隙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08404" y="4490085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接口契约、数据格式、异常传播链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333500" y="4953000"/>
              <a:ext cx="9525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706880" y="51244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83892" y="51406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非功能性需求靠人兜底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08404" y="544258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性能、可观测性、容错降级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方法论七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5479542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知识库预防：统一规范避免不一致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34" name="Group 34"/>
          <p:cNvGrpSpPr/>
          <p:nvPr/>
        </p:nvGrpSpPr>
        <p:grpSpPr>
          <a:xfrm>
            <a:off x="1333500" y="2095500"/>
            <a:ext cx="9525000" cy="2667000"/>
            <a:chOff x="1333500" y="2095500"/>
            <a:chExt cx="9525000" cy="2667000"/>
          </a:xfrm>
        </p:grpSpPr>
        <p:sp>
          <p:nvSpPr>
            <p:cNvPr id="7" name="Rectangle 7"/>
            <p:cNvSpPr/>
            <p:nvPr/>
          </p:nvSpPr>
          <p:spPr>
            <a:xfrm>
              <a:off x="1333500" y="2095500"/>
              <a:ext cx="2857500" cy="2667000"/>
            </a:xfrm>
            <a:prstGeom prst="roundRect">
              <a:avLst>
                <a:gd name="adj" fmla="val 285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72467" y="2283142"/>
              <a:ext cx="2179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number-formatting.md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714500" y="2619375"/>
              <a:ext cx="2095500" cy="1905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709166" y="279177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数值格式化规范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09547" y="3085624"/>
              <a:ext cx="13228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百分比统一 3 位小数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9547" y="3323749"/>
              <a:ext cx="12726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QPS 保留 3 位小数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09547" y="3561874"/>
              <a:ext cx="11711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延迟自动切换单位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09547" y="3799999"/>
              <a:ext cx="742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&lt;1s 显示 ms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09547" y="4038124"/>
              <a:ext cx="6431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≥1s 显示 s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667250" y="2095500"/>
              <a:ext cx="2857500" cy="2667000"/>
            </a:xfrm>
            <a:prstGeom prst="roundRect">
              <a:avLst>
                <a:gd name="adj" fmla="val 285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359241" y="2283142"/>
              <a:ext cx="14735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chart-style.md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048250" y="2619375"/>
              <a:ext cx="2095500" cy="1905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042916" y="2791778"/>
              <a:ext cx="12111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ECharts 图表样式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43297" y="3085624"/>
              <a:ext cx="10391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预计算布尔变量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043297" y="3323749"/>
              <a:ext cx="12238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禁止使用 sampling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43297" y="3561874"/>
              <a:ext cx="15334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setOption 必须传 true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43297" y="3799999"/>
              <a:ext cx="7753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颜色语义化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43297" y="4038124"/>
              <a:ext cx="7753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响应式配置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095500"/>
              <a:ext cx="2857500" cy="2667000"/>
            </a:xfrm>
            <a:prstGeom prst="roundRect">
              <a:avLst>
                <a:gd name="adj" fmla="val 285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769320" y="2283142"/>
              <a:ext cx="13208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ui-spacing.md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382000" y="2619375"/>
              <a:ext cx="2095500" cy="1905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76666" y="2791778"/>
              <a:ext cx="7884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UI 间距规范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77047" y="3085624"/>
              <a:ext cx="9072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卡片间距统一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77047" y="3323749"/>
              <a:ext cx="10391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按钮内边距统一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77047" y="3561874"/>
              <a:ext cx="10391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避免视觉不一致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77047" y="3799999"/>
              <a:ext cx="7753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响应式断点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77047" y="4038124"/>
              <a:ext cx="9072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05791" indent="-105791"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组件层级规范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方法论七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4196479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测试覆盖：78 个测试文件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399821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知识库 + 测试 = 双重防线，提前设防 AI 翻车点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333500" y="2095500"/>
            <a:ext cx="9525000" cy="3429000"/>
            <a:chOff x="1333500" y="2095500"/>
            <a:chExt cx="9525000" cy="3429000"/>
          </a:xfrm>
        </p:grpSpPr>
        <p:sp>
          <p:nvSpPr>
            <p:cNvPr id="8" name="Rectangle 8"/>
            <p:cNvSpPr/>
            <p:nvPr/>
          </p:nvSpPr>
          <p:spPr>
            <a:xfrm>
              <a:off x="1333500" y="2095500"/>
              <a:ext cx="9525000" cy="1333500"/>
            </a:xfrm>
            <a:prstGeom prst="roundRect">
              <a:avLst>
                <a:gd name="adj" fmla="val 571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635246" y="233076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每个模块都有对应的 _test.go 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703783" y="2529840"/>
              <a:ext cx="784433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78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83555" y="31718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个测试文件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333500" y="3619500"/>
              <a:ext cx="4572000" cy="1905000"/>
            </a:xfrm>
            <a:prstGeom prst="roundRect">
              <a:avLst>
                <a:gd name="adj" fmla="val 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07642" y="38071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测试金字塔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714500" y="4143375"/>
              <a:ext cx="3810000" cy="285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79512" y="4220528"/>
              <a:ext cx="879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70% 单元测试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095500" y="4476750"/>
              <a:ext cx="3048000" cy="2857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179512" y="4553902"/>
              <a:ext cx="879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20% 集成测试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476500" y="4810125"/>
              <a:ext cx="2286000" cy="2857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108836" y="4887278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10% 端到端测试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3619500"/>
              <a:ext cx="4572000" cy="1905000"/>
            </a:xfrm>
            <a:prstGeom prst="roundRect">
              <a:avLst>
                <a:gd name="adj" fmla="val 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660642" y="38071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覆盖率目标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53784" y="4042410"/>
              <a:ext cx="105788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≥ 80%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61404" y="44900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行覆盖率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61404" y="487108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工具链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662547" y="5133499"/>
              <a:ext cx="22460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testing + testify + testcontainers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2547" y="5323999"/>
              <a:ext cx="16194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httptest + go test -race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方法论八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4884719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CodeGraph：代码理解与同步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20395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让 AI 知道"我在改什么"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333500" y="2095500"/>
            <a:ext cx="9525000" cy="1524000"/>
            <a:chOff x="1333500" y="2095500"/>
            <a:chExt cx="9525000" cy="1524000"/>
          </a:xfrm>
        </p:grpSpPr>
        <p:sp>
          <p:nvSpPr>
            <p:cNvPr id="8" name="Rectangle 8"/>
            <p:cNvSpPr/>
            <p:nvPr/>
          </p:nvSpPr>
          <p:spPr>
            <a:xfrm>
              <a:off x="1333500" y="2095500"/>
              <a:ext cx="4572000" cy="1524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07642" y="22831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修改前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8404" y="2632710"/>
              <a:ext cx="22011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必须使用 codegraph 理解代码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08404" y="29184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结构和依赖关系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9166" y="3268028"/>
              <a:ext cx="21688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避免 AI 幻觉导致的代码理解偏差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44438" y="2516505"/>
              <a:ext cx="303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667500" y="2095500"/>
              <a:ext cx="4191000" cy="1524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041642" y="22831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修改后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042404" y="2632710"/>
              <a:ext cx="1910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必须使用 codegraph sync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42404" y="29184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同步更新索引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43166" y="3268028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确保修改时知道影响范围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33500" y="4191000"/>
            <a:ext cx="9525000" cy="2095500"/>
            <a:chOff x="1333500" y="4191000"/>
            <a:chExt cx="9525000" cy="2095500"/>
          </a:xfrm>
        </p:grpSpPr>
        <p:sp>
          <p:nvSpPr>
            <p:cNvPr id="20" name="Rectangle 20"/>
            <p:cNvSpPr/>
            <p:nvPr/>
          </p:nvSpPr>
          <p:spPr>
            <a:xfrm>
              <a:off x="1333500" y="4191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708404" y="4394835"/>
              <a:ext cx="2700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✓ 避免 AI 幻觉导致的代码理解偏差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333500" y="4953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708404" y="5156835"/>
              <a:ext cx="19991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✓ 确保修改时知道影响范围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333500" y="5715000"/>
              <a:ext cx="95250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708404" y="5918835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✓ 维护代码库的完整性和一致性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方法论八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4756795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OpenSpec：需求与变更管理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02742" y="1473518"/>
            <a:ext cx="223159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让 AI 知道"我为什么要改"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333500" y="2095500"/>
            <a:ext cx="9525000" cy="1905000"/>
            <a:chOff x="1333500" y="2095500"/>
            <a:chExt cx="9525000" cy="1905000"/>
          </a:xfrm>
        </p:grpSpPr>
        <p:sp>
          <p:nvSpPr>
            <p:cNvPr id="8" name="Rectangle 8"/>
            <p:cNvSpPr/>
            <p:nvPr/>
          </p:nvSpPr>
          <p:spPr>
            <a:xfrm>
              <a:off x="1333500" y="2095500"/>
              <a:ext cx="4572000" cy="1905000"/>
            </a:xfrm>
            <a:prstGeom prst="roundRect">
              <a:avLst>
                <a:gd name="adj" fmla="val 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07642" y="2283142"/>
              <a:ext cx="11784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Feature 开发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8404" y="26327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必须走 openspec 流程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09166" y="2982278"/>
              <a:ext cx="21945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需求分析 → 设计文档 → 实现 → 测试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9166" y="3268028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确保每个功能都有完整的设计文档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09547" y="3609499"/>
              <a:ext cx="16059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强制 AI 按照规范流程工作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286500" y="2095500"/>
              <a:ext cx="4572000" cy="1905000"/>
            </a:xfrm>
            <a:prstGeom prst="roundRect">
              <a:avLst>
                <a:gd name="adj" fmla="val 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60642" y="2283142"/>
              <a:ext cx="10259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大型 Bugfix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1404" y="2632710"/>
              <a:ext cx="2750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涉及核心逻辑的 bug 也要走 openspec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62166" y="2982278"/>
              <a:ext cx="21945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问题分析 → 修复方案 → 实现 → 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62166" y="3268028"/>
              <a:ext cx="20037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避免"头痛医头"导致的连锁问题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62547" y="360949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保留完整的决策记录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333500" y="4572000"/>
            <a:ext cx="9525000" cy="1143000"/>
            <a:chOff x="1333500" y="4572000"/>
            <a:chExt cx="9525000" cy="1143000"/>
          </a:xfrm>
        </p:grpSpPr>
        <p:sp>
          <p:nvSpPr>
            <p:cNvPr id="21" name="Rectangle 21"/>
            <p:cNvSpPr/>
            <p:nvPr/>
          </p:nvSpPr>
          <p:spPr>
            <a:xfrm>
              <a:off x="1333500" y="4572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433066" y="47758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规范流程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51228" y="5077778"/>
              <a:ext cx="14220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强制 AI 按照规范工作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32863" y="53635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减少盲目修改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667250" y="4572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766816" y="47758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决策记录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454587" y="507777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保留完整的决策记录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666613" y="53635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便于后续维护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001000" y="4572000"/>
              <a:ext cx="28575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0566" y="47758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知识沉淀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00363" y="507777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便于后续维护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71038" y="53635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和知识沉淀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  <p:sp>
        <p:nvSpPr>
          <p:cNvPr id="3" name="Rectangle 3"/>
          <p:cNvSpPr/>
          <p:nvPr/>
        </p:nvSpPr>
        <p:spPr>
          <a:xfrm>
            <a:off x="609600" y="457200"/>
            <a:ext cx="1143000" cy="228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93064" y="50577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方法论八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5884" y="851535"/>
            <a:ext cx="4389120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流程控制的价值与测试验证</a:t>
            </a:r>
          </a:p>
        </p:txBody>
      </p:sp>
      <p:sp>
        <p:nvSpPr>
          <p:cNvPr id="6" name="Rectangle 6"/>
          <p:cNvSpPr/>
          <p:nvPr/>
        </p:nvSpPr>
        <p:spPr>
          <a:xfrm>
            <a:off x="609600" y="1295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1333500" y="2095500"/>
            <a:ext cx="9525000" cy="1524000"/>
            <a:chOff x="1333500" y="2095500"/>
            <a:chExt cx="9525000" cy="1524000"/>
          </a:xfrm>
        </p:grpSpPr>
        <p:sp>
          <p:nvSpPr>
            <p:cNvPr id="7" name="Rectangle 7"/>
            <p:cNvSpPr/>
            <p:nvPr/>
          </p:nvSpPr>
          <p:spPr>
            <a:xfrm>
              <a:off x="1333500" y="2095500"/>
              <a:ext cx="4572000" cy="1524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07642" y="2283142"/>
              <a:ext cx="9701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CodeGraph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08404" y="2632710"/>
              <a:ext cx="18129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让 AI 知道"我在改什么"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9166" y="2982278"/>
              <a:ext cx="21688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避免 AI 幻觉导致的代码理解偏差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09166" y="3268028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确保修改时知道影响范围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2095500"/>
              <a:ext cx="4572000" cy="1524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60642" y="2283142"/>
              <a:ext cx="903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OpenSpec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61404" y="2632710"/>
              <a:ext cx="19836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让 AI 知道"我为什么要改"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62166" y="2982278"/>
              <a:ext cx="17207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强制 AI 按照规范流程工作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2166" y="326802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保留完整的决策记录</a:t>
              </a:r>
            </a:p>
          </p:txBody>
        </p:sp>
      </p:grpSp>
      <p:sp>
        <p:nvSpPr>
          <p:cNvPr id="18" name="Rectangle 18"/>
          <p:cNvSpPr/>
          <p:nvPr/>
        </p:nvSpPr>
        <p:spPr>
          <a:xfrm>
            <a:off x="1333500" y="4000500"/>
            <a:ext cx="9525000" cy="762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2147887" y="4267200"/>
            <a:ext cx="789622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结合效果：减少 AI 的盲目修改 · 提高代码变更的可追溯性 · 形成完整的工程化闭环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33500" y="5334000"/>
            <a:ext cx="9525000" cy="962406"/>
            <a:chOff x="1333500" y="5334000"/>
            <a:chExt cx="9525000" cy="962406"/>
          </a:xfrm>
        </p:grpSpPr>
        <p:sp>
          <p:nvSpPr>
            <p:cNvPr id="20" name="Rectangle 20"/>
            <p:cNvSpPr/>
            <p:nvPr/>
          </p:nvSpPr>
          <p:spPr>
            <a:xfrm>
              <a:off x="1333500" y="5334000"/>
              <a:ext cx="9525000" cy="952500"/>
            </a:xfrm>
            <a:prstGeom prst="roundRect">
              <a:avLst>
                <a:gd name="adj" fmla="val 8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707642" y="5521642"/>
              <a:ext cx="25957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测试验证：代码完成 ≠ 功能完成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08404" y="5823585"/>
              <a:ext cx="35625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UT 只是起点：78 个测试文件保证代码基本能力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08404" y="6061710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人工测试不可少：每次代码更新都进行大量人工测试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21580" y="6458902"/>
            <a:ext cx="166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5884" y="470535"/>
            <a:ext cx="2532677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8 个方法论总结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914400"/>
            <a:ext cx="457200" cy="2857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grpSp>
        <p:nvGrpSpPr>
          <p:cNvPr id="29" name="Group 29"/>
          <p:cNvGrpSpPr/>
          <p:nvPr/>
        </p:nvGrpSpPr>
        <p:grpSpPr>
          <a:xfrm>
            <a:off x="1333500" y="1714500"/>
            <a:ext cx="9840949" cy="3619500"/>
            <a:chOff x="1333500" y="1714500"/>
            <a:chExt cx="9840949" cy="3619500"/>
          </a:xfrm>
        </p:grpSpPr>
        <p:sp>
          <p:nvSpPr>
            <p:cNvPr id="5" name="Rectangle 5"/>
            <p:cNvSpPr/>
            <p:nvPr/>
          </p:nvSpPr>
          <p:spPr>
            <a:xfrm>
              <a:off x="1333500" y="17145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705356" y="18535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183892" y="190214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定义问题比解决问题更重要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286500" y="17145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658356" y="18535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6892" y="1902142"/>
              <a:ext cx="27790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知识沉淀：AI高效Coding的护城河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333500" y="26670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705356" y="28060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183892" y="2854642"/>
              <a:ext cx="29585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流水线质量管控：对抗 "AI Slop"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286500" y="26670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58356" y="28060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6892" y="285464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高标准审美，不仅仅是快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333500" y="36195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705356" y="37585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83892" y="380714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懒是第一动力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36195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658356" y="37585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6892" y="3807142"/>
              <a:ext cx="27308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评估与实现分离：不盲目相信 AI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333500" y="45720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705356" y="47110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83892" y="4759642"/>
              <a:ext cx="37197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时代的质量画像：知识库预防 + 测试覆盖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4572000"/>
              <a:ext cx="4572000" cy="762000"/>
            </a:xfrm>
            <a:prstGeom prst="roundRect">
              <a:avLst>
                <a:gd name="adj" fmla="val 1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658356" y="4711065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36892" y="4759642"/>
              <a:ext cx="40375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工程化流程：CodeGraph + OpenSpec + 人工验证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760720" y="5836920"/>
            <a:ext cx="670560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谢谢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725668" y="6331268"/>
            <a:ext cx="7406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问答环节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i-programming-practice">
  <a:themeElements>
    <a:clrScheme name="ai-programming-practice">
      <a:dk1>
        <a:srgbClr val="1A1D26"/>
      </a:dk1>
      <a:lt1>
        <a:srgbClr val="FFFFFF"/>
      </a:lt1>
      <a:dk2>
        <a:srgbClr val="1F497D"/>
      </a:dk2>
      <a:lt2>
        <a:srgbClr val="F4F6FA"/>
      </a:lt2>
      <a:accent1>
        <a:srgbClr val="3458B0"/>
      </a:accent1>
      <a:accent2>
        <a:srgbClr val="1F3A78"/>
      </a:accent2>
      <a:accent3>
        <a:srgbClr val="5B8DEF"/>
      </a:accent3>
      <a:accent4>
        <a:srgbClr val="3458B0"/>
      </a:accent4>
      <a:accent5>
        <a:srgbClr val="59606E"/>
      </a:accent5>
      <a:accent6>
        <a:srgbClr val="DCE1EA"/>
      </a:accent6>
      <a:hlink>
        <a:srgbClr val="1F3A78"/>
      </a:hlink>
      <a:folHlink>
        <a:srgbClr val="5B8DEF"/>
      </a:folHlink>
    </a:clrScheme>
    <a:fontScheme name="ai-programming-practice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programming-pract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2026-09-04T01:43:40Z</dcterms:created>
  <dcterms:modified xsi:type="dcterms:W3CDTF">2026-09-04T01:43:40Z</dcterms:modified>
  <cp:category/>
  <cp:contentStatus/>
</cp:coreProperties>
</file>