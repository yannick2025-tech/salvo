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handoutMasterIdLst>
    <p:handoutMasterId r:id="rId39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58B0"/>
    <a:srgbClr val="FFFFFF"/>
    <a:srgbClr val="F4F6FA"/>
    <a:srgbClr val="008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可展示一个充电</a:t>
            </a:r>
            <a:r>
              <a:rPr lang="en-US" altLang="zh-CN"/>
              <a:t>YAML</a:t>
            </a:r>
            <a:r>
              <a:rPr lang="zh-CN" altLang="en-US"/>
              <a:t>配置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参考：</a:t>
            </a:r>
            <a:r>
              <a:rPr lang="en-US" altLang="zh-CN">
                <a:sym typeface="+mn-ea"/>
              </a:rPr>
              <a:t>https://juejin.cn/post/7643280009974759433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这一页放到质量中</a:t>
            </a:r>
            <a:r>
              <a:rPr lang="zh-CN" altLang="en-US"/>
              <a:t>去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-programming-practi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3027929" y="2213610"/>
            <a:ext cx="6136142" cy="2420620"/>
            <a:chOff x="3027929" y="2213610"/>
            <a:chExt cx="6136142" cy="2420620"/>
          </a:xfrm>
        </p:grpSpPr>
        <p:sp>
          <p:nvSpPr>
            <p:cNvPr id="2" name="TextBox 2"/>
            <p:cNvSpPr txBox="1"/>
            <p:nvPr/>
          </p:nvSpPr>
          <p:spPr>
            <a:xfrm>
              <a:off x="3027929" y="2213610"/>
              <a:ext cx="6136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时代的编程平权实践</a:t>
              </a:r>
              <a:endPara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027170" y="30441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从不会写代码到独立开发性能测试平台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82161" y="3425190"/>
              <a:ext cx="302768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时代的</a:t>
              </a:r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问题定义</a:t>
              </a: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</a:t>
              </a:r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质量管控</a:t>
              </a:r>
              <a:endParaRPr lang="zh-CN" sz="18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0" y="40005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725409" y="4426585"/>
              <a:ext cx="73152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技术分享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7543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背景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609600" y="1524000"/>
            <a:ext cx="10972800" cy="2857500"/>
            <a:chOff x="609600" y="1524000"/>
            <a:chExt cx="10972800" cy="285750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51435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1721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身份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9056" y="19773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测试和流程优化经理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27660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不是专职开发，</a:t>
              </a:r>
              <a:r>
                <a:rPr lang="zh-CN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前端代码</a:t>
              </a:r>
              <a:r>
                <a:rPr lang="en-US" altLang="zh-CN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0</a:t>
              </a:r>
              <a:r>
                <a:rPr lang="zh-CN" altLang="en-US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基础</a:t>
              </a:r>
              <a:endParaRPr lang="zh-CN" altLang="en-US" sz="1400" dirty="0">
                <a:solidFill>
                  <a:srgbClr val="FF000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104" y="2727960"/>
              <a:ext cx="2585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借助 AI 能力，从 0 到 1 构建 Salvo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438900" y="1524000"/>
              <a:ext cx="51435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60642" y="1721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项目规模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1498" y="1907858"/>
              <a:ext cx="1368425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~</a:t>
              </a:r>
              <a:r>
                <a:rPr lang="en-US" alt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万行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0642" y="2483168"/>
              <a:ext cx="233489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Go 4</a:t>
              </a:r>
              <a:r>
                <a:rPr lang="en-US" alt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.33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万</a:t>
              </a:r>
              <a:r>
                <a:rPr lang="en-US" altLang="zh-CN" sz="1350" baseline="30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行 + 前端</a:t>
              </a:r>
              <a:r>
                <a:rPr lang="en-US" alt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1.59W</a:t>
              </a:r>
              <a:r>
                <a:rPr lang="en-US" altLang="zh-CN" sz="1350" baseline="30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行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36195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9354" y="3758565"/>
              <a:ext cx="48133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今天分享的不是技术细节，而是</a:t>
              </a:r>
              <a:r>
                <a:rPr lang="en-US" alt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</a:t>
              </a:r>
              <a:r>
                <a:rPr lang="zh-CN" alt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全栈编程</a:t>
              </a:r>
              <a:r>
                <a:rPr lang="zh-CN" alt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体验</a:t>
              </a:r>
              <a:endParaRPr lang="zh-CN" altLang="en-US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54829" y="4109085"/>
              <a:ext cx="2282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个可复用的 AI 编程实践方法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837614" y="2136458"/>
            <a:ext cx="4516755" cy="1270952"/>
            <a:chOff x="3837614" y="2136458"/>
            <a:chExt cx="4516755" cy="1270952"/>
          </a:xfrm>
        </p:grpSpPr>
        <p:sp>
          <p:nvSpPr>
            <p:cNvPr id="5" name="TextBox 5"/>
            <p:cNvSpPr txBox="1"/>
            <p:nvPr/>
          </p:nvSpPr>
          <p:spPr>
            <a:xfrm>
              <a:off x="4230647" y="2136458"/>
              <a:ext cx="37307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拉平了技术 GAP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837614" y="2853690"/>
              <a:ext cx="4516755" cy="553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问题不再是"</a:t>
              </a:r>
              <a:r>
                <a:rPr lang="zh-CN" sz="1800" b="1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能不能实现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而是"</a:t>
              </a:r>
              <a:r>
                <a:rPr lang="zh-CN" sz="1800" b="1" dirty="0">
                  <a:solidFill>
                    <a:srgbClr val="008342"/>
                  </a:solidFill>
                  <a:latin typeface="+mn-lt"/>
                  <a:ea typeface="+mn-ea"/>
                  <a:cs typeface="+mn-cs"/>
                </a:rPr>
                <a:t>是否定义清楚问题，是否能管控住质量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43735" y="4000500"/>
            <a:ext cx="8966302" cy="1152906"/>
            <a:chOff x="1843735" y="4000500"/>
            <a:chExt cx="8966302" cy="1152906"/>
          </a:xfrm>
        </p:grpSpPr>
        <p:sp>
          <p:nvSpPr>
            <p:cNvPr id="8" name="Rectangle 8"/>
            <p:cNvSpPr/>
            <p:nvPr/>
          </p:nvSpPr>
          <p:spPr>
            <a:xfrm>
              <a:off x="2286000" y="4000500"/>
              <a:ext cx="762000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034608" y="4200525"/>
              <a:ext cx="21228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接下来分享 8 点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实践体验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843735" y="4918710"/>
              <a:ext cx="8966302" cy="234696"/>
              <a:chOff x="1843735" y="4918710"/>
              <a:chExt cx="8966302" cy="234696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843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01 定义问题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986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02 知识沉淀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048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03 流水线管控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191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04 高标准审美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254191" y="4918710"/>
                <a:ext cx="12076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05 懒是第一动力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58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06 评估分离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01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07 质量画像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763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08 工程化流程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331367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为什么要做 Salvo？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4094900" y="2326958"/>
            <a:ext cx="4002200" cy="2376487"/>
            <a:chOff x="4094900" y="2326958"/>
            <a:chExt cx="4002200" cy="2376487"/>
          </a:xfrm>
        </p:grpSpPr>
        <p:sp>
          <p:nvSpPr>
            <p:cNvPr id="7" name="TextBox 7"/>
            <p:cNvSpPr txBox="1"/>
            <p:nvPr/>
          </p:nvSpPr>
          <p:spPr>
            <a:xfrm>
              <a:off x="4094900" y="2326958"/>
              <a:ext cx="40022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性能工具 1.0 的困境</a:t>
              </a:r>
              <a:endPara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66502" y="3044190"/>
              <a:ext cx="3858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大痛点驱动我们重新思考性能测试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4438" y="3611880"/>
              <a:ext cx="303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↓</a:t>
              </a:r>
              <a:endParaRPr lang="zh-CN" sz="36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72940" y="44100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定义清楚问题，才能找到正确的解法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4225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 大痛点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609600" y="1619250"/>
            <a:ext cx="10972800" cy="381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46860" y="17373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痛点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173220" y="1737360"/>
            <a:ext cx="79756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Snailx</a:t>
            </a:r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问题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190000" y="1737360"/>
            <a:ext cx="11459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Salvo 解决方案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609600" y="20002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53300" y="22355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场景不通用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594125" y="2251710"/>
            <a:ext cx="19557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测试场景内置在 Go 代码中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673035" y="2251710"/>
            <a:ext cx="21799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YAML 配置驱动，零代码适配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609600" y="26670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253300" y="29022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资源消耗高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150235" y="2918460"/>
            <a:ext cx="284353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 万协程，4C8G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Linux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执行机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频繁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被打爆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8684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按需调度，精确控制并发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609600" y="33337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253300" y="35690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扩展成本高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123883" y="3585210"/>
            <a:ext cx="289623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新增业务改 1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文件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/ 20+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结构体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/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函数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185099" y="3585210"/>
            <a:ext cx="11558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只改一个 YAML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609600" y="40005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344168" y="4235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无法停止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000500" y="42519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一旦运行不能停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413183" y="4251960"/>
            <a:ext cx="469963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按次数 / 时长两种模式，随时停止，所有子携程自动取消，报告不</a:t>
            </a:r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中断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609600" y="46672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0118" y="4902518"/>
            <a:ext cx="1548765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报告分散，工作量</a:t>
            </a:r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大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065145" y="4918710"/>
            <a:ext cx="30137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AWK + EXCEL + Prometheus（报告约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周）</a:t>
            </a:r>
            <a:endParaRPr lang="zh-CN" altLang="en-US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674928" y="4918710"/>
            <a:ext cx="217614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自动生成 HTML 报告（分钟级）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609600" y="53340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344168" y="5569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并发崩溃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962400" y="5585460"/>
            <a:ext cx="12192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多次出现并发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问题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191500" y="5585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完善的并发控制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关键洞察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286000" y="2476500"/>
            <a:ext cx="7620000" cy="1714500"/>
            <a:chOff x="2286000" y="2476500"/>
            <a:chExt cx="7620000" cy="1714500"/>
          </a:xfrm>
        </p:grpSpPr>
        <p:sp>
          <p:nvSpPr>
            <p:cNvPr id="7" name="Rectangle 7"/>
            <p:cNvSpPr/>
            <p:nvPr/>
          </p:nvSpPr>
          <p:spPr>
            <a:xfrm>
              <a:off x="2286000" y="2476500"/>
              <a:ext cx="7620000" cy="1714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535680" y="2707958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定义问题比解决问题更重要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75430" y="3425190"/>
              <a:ext cx="36411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先把需求定义清楚，AI 帮你实现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前后对比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333500" y="1905000"/>
            <a:ext cx="4191000" cy="3048000"/>
          </a:xfrm>
          <a:prstGeom prst="roundRect">
            <a:avLst>
              <a:gd name="adj" fmla="val 25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012724" y="2124075"/>
            <a:ext cx="8325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1.0 时代</a:t>
            </a:r>
            <a:endParaRPr lang="zh-CN" sz="1500" b="1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2476500" y="2476500"/>
            <a:ext cx="1905000" cy="190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058668" y="2711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新增业务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26080" y="2914650"/>
            <a:ext cx="100584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周级</a:t>
            </a:r>
            <a:endParaRPr lang="zh-CN" sz="36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662555" y="3489960"/>
            <a:ext cx="153289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改 1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文件 /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60+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函数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019044" y="38709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几千行代码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899252" y="2910840"/>
            <a:ext cx="39349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→</a:t>
            </a:r>
            <a:endParaRPr lang="zh-CN" sz="48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6667500" y="1905000"/>
            <a:ext cx="4191000" cy="3048000"/>
          </a:xfrm>
          <a:prstGeom prst="roundRect">
            <a:avLst>
              <a:gd name="adj" fmla="val 25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50966" y="2124075"/>
            <a:ext cx="10240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Salvo 时代</a:t>
            </a:r>
            <a:endParaRPr lang="zh-CN" sz="15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7810500" y="247650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392668" y="2711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新增业务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017764" y="2914650"/>
            <a:ext cx="149047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分钟级</a:t>
            </a:r>
            <a:endParaRPr lang="zh-CN" sz="36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161531" y="3489960"/>
            <a:ext cx="320294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只改一个 YAML，</a:t>
            </a:r>
            <a:r>
              <a:rPr lang="zh-CN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借助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蒸馏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，实现分钟级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效率</a:t>
            </a:r>
            <a:endParaRPr lang="zh-CN" altLang="en-US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53044" y="38709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零代码适配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理论基础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0974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腾讯 AI Team 的实践启示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1333500" y="2095500"/>
            <a:ext cx="9525000" cy="114300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333500" y="20955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705356" y="2282190"/>
            <a:ext cx="4888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i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"工作流只是管道，知识才是流过管道的活水"</a:t>
            </a:r>
            <a:endParaRPr lang="zh-CN" sz="1800" i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08404" y="2727960"/>
            <a:ext cx="1125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— 腾讯 AI Team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3619500"/>
            <a:ext cx="9525000" cy="1524000"/>
            <a:chOff x="1333500" y="3619500"/>
            <a:chExt cx="9525000" cy="1524000"/>
          </a:xfrm>
        </p:grpSpPr>
        <p:sp>
          <p:nvSpPr>
            <p:cNvPr id="12" name="Rectangle 12"/>
            <p:cNvSpPr/>
            <p:nvPr/>
          </p:nvSpPr>
          <p:spPr>
            <a:xfrm>
              <a:off x="133350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82786" y="3854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工作流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33066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可替换的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65978" y="4553902"/>
              <a:ext cx="139255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今天状态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机，明天 DAG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07405" y="3854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66816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可累积的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54587" y="45539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跨项目、跨时间复用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0100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59418" y="3854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复利资产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77478" y="42519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团队的知识护城河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29688" y="45539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越积累越有价值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09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53267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 层知识库结构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2286000" y="2095500"/>
            <a:ext cx="7620000" cy="3619500"/>
            <a:chOff x="2286000" y="2095500"/>
            <a:chExt cx="7620000" cy="3619500"/>
          </a:xfrm>
        </p:grpSpPr>
        <p:sp>
          <p:nvSpPr>
            <p:cNvPr id="7" name="Rectangle 7"/>
            <p:cNvSpPr/>
            <p:nvPr/>
          </p:nvSpPr>
          <p:spPr>
            <a:xfrm>
              <a:off x="2286000" y="20955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59380" y="2314575"/>
              <a:ext cx="1602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L1-conventions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61666" y="2601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团队约定（强约束）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14926" y="2410778"/>
              <a:ext cx="1134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coding-style.md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286000" y="30480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659380" y="3267075"/>
              <a:ext cx="1252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L2-business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61666" y="35537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业务知识（领域模型）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80642" y="3363278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domain-models.md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286000" y="40005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659380" y="4219575"/>
              <a:ext cx="1136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L3-project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61666" y="45062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项目知识（已知陷阱）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61236" y="4315778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pitfalls.md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286000" y="49530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59380" y="5172075"/>
              <a:ext cx="1454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L4-workflows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61666" y="5458778"/>
              <a:ext cx="1033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工作流（SOP）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6589" y="5268278"/>
              <a:ext cx="1692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codegraph-workflow.md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68637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Lessons Learned 沉淀机制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07687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 个详细案例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8" name="Group 48"/>
          <p:cNvGrpSpPr/>
          <p:nvPr/>
        </p:nvGrpSpPr>
        <p:grpSpPr>
          <a:xfrm>
            <a:off x="609600" y="1905000"/>
            <a:ext cx="10972800" cy="4000500"/>
            <a:chOff x="609600" y="1905000"/>
            <a:chExt cx="10972800" cy="400050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2866" y="20583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1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251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前端首屏性能优化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247" y="2485549"/>
              <a:ext cx="18371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轮排查迭代，时间戳日志定位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75259" y="2315528"/>
              <a:ext cx="8640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10s → 116ms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38900" y="19050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62166" y="20583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2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1404" y="2251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链路跟踪色块溢出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2547" y="248554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可视化调试：全局边框扫描 + 祖先链追踪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04924" y="2315528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2h → 5min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29527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2866" y="31061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3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104" y="3299460"/>
              <a:ext cx="15158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Goroutine 吞没错误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247" y="3533299"/>
              <a:ext cx="20086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safeGo + atomic.Value 错误传播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1230" y="3363278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静默 → 可观测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38900" y="29527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62166" y="31061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4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404" y="3299460"/>
              <a:ext cx="14248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AND-join 阻塞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547" y="3533299"/>
              <a:ext cx="10650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OR-join 语义设计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09860" y="33632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分支正常汇合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40005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2866" y="41538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5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347210"/>
              <a:ext cx="9258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布局重叠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3247" y="4581049"/>
              <a:ext cx="18150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替换为 ELK（支持变长节点）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63262" y="4411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一键美化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38900" y="40005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62166" y="41538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6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404" y="4347210"/>
              <a:ext cx="1275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WebSocket 推送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2547" y="4581049"/>
              <a:ext cx="26200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ReadPump/WritePump 分离 + channel 管理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92562" y="4411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稳定实时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50482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2866" y="52016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7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104" y="5394960"/>
              <a:ext cx="16945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 1.26.2 运行时 bug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247" y="5628799"/>
              <a:ext cx="17909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堆栈分析区分应用/运行时 bug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39209" y="54587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识别标准库问题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38900" y="50482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62166" y="52016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8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404" y="5394960"/>
              <a:ext cx="1268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多字段 AND 查询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2547" y="5628799"/>
              <a:ext cx="21616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双套实现：Vue computed + 原生 JS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51211" y="54587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前后端一致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效果对比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1333500" y="2095500"/>
            <a:ext cx="9525000" cy="2857500"/>
            <a:chOff x="1333500" y="2095500"/>
            <a:chExt cx="9525000" cy="2857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8404" y="2346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知识库总计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6212" y="2468880"/>
              <a:ext cx="179336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1660 行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166" y="3029902"/>
              <a:ext cx="1063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L1-L4 四层知识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72829" y="2470785"/>
              <a:ext cx="2273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7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667500" y="2095500"/>
              <a:ext cx="41910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42404" y="2346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按需加载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30212" y="2468880"/>
              <a:ext cx="23531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75~261 行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3166" y="3029902"/>
              <a:ext cx="1346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最多节省 85% 上下文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23803" y="38509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04753" y="4394835"/>
              <a:ext cx="13149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Lessons Learned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97659" y="46572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每个包含完整排查过程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66725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57553" y="38509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86044" y="4394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成熟度标签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82990" y="4657249"/>
              <a:ext cx="1626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draft → verified → proven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0100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11081" y="38995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↑</a:t>
              </a:r>
              <a:endPara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28100" y="4394835"/>
              <a:ext cx="1403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准确性大幅提升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29014" y="46572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避免重复踩坑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31</a:t>
            </a:r>
            <a:endParaRPr lang="en-US" sz="1050" dirty="0">
              <a:solidFill>
                <a:srgbClr val="DCE1E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三</a:t>
            </a:r>
            <a:endParaRPr lang="zh-CN" sz="10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4762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AI 辅助开发完整工作流</a:t>
            </a:r>
            <a:endParaRPr lang="zh-CN" sz="2700" b="1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grpSp>
        <p:nvGrpSpPr>
          <p:cNvPr id="44" name="Group 44"/>
          <p:cNvGrpSpPr/>
          <p:nvPr/>
        </p:nvGrpSpPr>
        <p:grpSpPr>
          <a:xfrm>
            <a:off x="1333500" y="2476500"/>
            <a:ext cx="9334500" cy="952500"/>
            <a:chOff x="1333500" y="2476500"/>
            <a:chExt cx="9334500" cy="952500"/>
          </a:xfrm>
        </p:grpSpPr>
        <p:sp>
          <p:nvSpPr>
            <p:cNvPr id="10" name="Freeform 10"/>
            <p:cNvSpPr/>
            <p:nvPr/>
          </p:nvSpPr>
          <p:spPr>
            <a:xfrm>
              <a:off x="1333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84985" y="2647950"/>
              <a:ext cx="1002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需求澄清</a:t>
              </a:r>
              <a:endParaRPr lang="zh-CN" sz="135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807464" y="2982278"/>
              <a:ext cx="957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59606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brainstorming</a:t>
              </a:r>
              <a:endParaRPr lang="en-US" sz="1050" dirty="0">
                <a:solidFill>
                  <a:srgbClr val="59606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652016" y="3172778"/>
              <a:ext cx="1268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9606E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多方案→确认</a:t>
              </a:r>
              <a:endPara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7" name="Freeform 17"/>
            <p:cNvSpPr/>
            <p:nvPr/>
          </p:nvSpPr>
          <p:spPr>
            <a:xfrm>
              <a:off x="3435858" y="2773680"/>
              <a:ext cx="176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458B0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→</a:t>
              </a:r>
              <a:endParaRPr lang="en-US" sz="2100" dirty="0">
                <a:solidFill>
                  <a:srgbClr val="3458B0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3810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267200" y="2647950"/>
              <a:ext cx="990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en-US" sz="1350" b="1" dirty="0">
                  <a:solidFill>
                    <a:srgbClr val="1A1D2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OpenSpec</a:t>
              </a:r>
              <a:endParaRPr lang="en-US" sz="1350" b="1" dirty="0">
                <a:solidFill>
                  <a:srgbClr val="1A1D2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474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59606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propose</a:t>
              </a:r>
              <a:endParaRPr lang="en-US" sz="1050" dirty="0">
                <a:solidFill>
                  <a:srgbClr val="59606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4319016" y="3172778"/>
              <a:ext cx="887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9606E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提案→审查</a:t>
              </a:r>
              <a:endPara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6" name="Freeform 26"/>
            <p:cNvSpPr/>
            <p:nvPr/>
          </p:nvSpPr>
          <p:spPr>
            <a:xfrm>
              <a:off x="5912358" y="2773680"/>
              <a:ext cx="176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458B0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→</a:t>
              </a:r>
              <a:endParaRPr lang="en-US" sz="2100" dirty="0">
                <a:solidFill>
                  <a:srgbClr val="3458B0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286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743700" y="2647950"/>
              <a:ext cx="990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TDD 实现</a:t>
              </a:r>
              <a:endParaRPr lang="zh-CN" sz="135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858000" y="2982278"/>
              <a:ext cx="762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59606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codegraph</a:t>
              </a:r>
              <a:endParaRPr lang="en-US" sz="1050" dirty="0">
                <a:solidFill>
                  <a:srgbClr val="59606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795516" y="3172778"/>
              <a:ext cx="887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9606E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红→绿→重构</a:t>
              </a:r>
              <a:endPara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388858" y="2773680"/>
              <a:ext cx="176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458B0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→</a:t>
              </a:r>
              <a:endParaRPr lang="en-US" sz="2100" dirty="0">
                <a:solidFill>
                  <a:srgbClr val="3458B0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7" name="Freeform 37"/>
            <p:cNvSpPr/>
            <p:nvPr/>
          </p:nvSpPr>
          <p:spPr>
            <a:xfrm>
              <a:off x="8763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124950" y="2647950"/>
              <a:ext cx="990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自检→提交</a:t>
              </a:r>
              <a:endParaRPr lang="zh-CN" sz="13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0" name="Freeform 40"/>
            <p:cNvSpPr/>
            <p:nvPr/>
          </p:nvSpPr>
          <p:spPr>
            <a:xfrm>
              <a:off x="9334500" y="2982278"/>
              <a:ext cx="762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checklist</a:t>
              </a:r>
              <a:endParaRPr lang="en-US" sz="105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272016" y="3172778"/>
              <a:ext cx="887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sync→git</a:t>
              </a:r>
              <a:endParaRPr lang="en-US" sz="105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45" name="Freeform 45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CE1E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708404" y="4394835"/>
              <a:ext cx="8572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每个阶段由人工或</a:t>
              </a:r>
              <a:r>
                <a:rPr lang="en-US" alt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project rules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约束：brainstorming→tdd-strategy→codegraph→checklist→git-commit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CE1E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708404" y="5156835"/>
              <a:ext cx="4762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人工确认节点：方案确认→提案审查→测试验证→文档评估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  <a:sym typeface="+mn-ea"/>
                </a:rPr>
                <a:t>→知识库更新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→Git提交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1" name="Freeform 51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CE1E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708404" y="5918835"/>
              <a:ext cx="4762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AI 负责评估和生成，人负责确认和提交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5802630" y="5110480"/>
            <a:ext cx="808990" cy="283845"/>
          </a:xfrm>
          <a:prstGeom prst="rect">
            <a:avLst/>
          </a:prstGeom>
          <a:noFill/>
          <a:ln w="12700" cap="flat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88471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CodeGraph：代码理解与同步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0395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让 AI 知道"我在改什么"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333500" y="2095500"/>
            <a:ext cx="9525000" cy="1524000"/>
            <a:chOff x="1333500" y="2095500"/>
            <a:chExt cx="9525000" cy="1524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7642" y="22831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修改前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必须使用 codegraph 理解代码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8404" y="2918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结构和依赖关系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166" y="3268028"/>
              <a:ext cx="21688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 AI 幻觉导致的代码理解偏差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4438" y="2516505"/>
              <a:ext cx="303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36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667500" y="2095500"/>
              <a:ext cx="4191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41642" y="22831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修改后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42404" y="2632710"/>
              <a:ext cx="1910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必须使用 codegraph sync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42404" y="2918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同步更新索引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3166" y="32680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确保修改时知道影响范围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20" name="Rectangle 20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8404" y="4394835"/>
              <a:ext cx="2700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避免 AI 幻觉导致的代码理解偏差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08404" y="5156835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确保修改时知道影响范围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708404" y="5918835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维护代码库的完整性和一致性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29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75679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OpenSpec：需求与变更管理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2315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让 AI 知道"我为什么要改"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333500" y="2095500"/>
            <a:ext cx="9525000" cy="1905000"/>
            <a:chOff x="1333500" y="2095500"/>
            <a:chExt cx="9525000" cy="1905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7642" y="2283142"/>
              <a:ext cx="117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Feature 开发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必须走 openspec 流程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166" y="2982278"/>
              <a:ext cx="2194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需求分析 → 设计文档 → 实现 → 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166" y="326802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确保每个功能都有完整的设计文档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3609499"/>
              <a:ext cx="16059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强制 AI 按照规范流程工作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2095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60642" y="2283142"/>
              <a:ext cx="104965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中大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型Bugfix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1404" y="2632710"/>
              <a:ext cx="27503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涉及核心逻辑的 bug 也要走 openspec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62166" y="2982278"/>
              <a:ext cx="2194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问题分析 → 修复方案 → 实现 → 验证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2166" y="3268028"/>
              <a:ext cx="2003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避免"头痛医头"导致的连锁问题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62547" y="36094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33500" y="4572000"/>
            <a:ext cx="9525000" cy="1143000"/>
            <a:chOff x="1333500" y="4572000"/>
            <a:chExt cx="9525000" cy="1143000"/>
          </a:xfrm>
        </p:grpSpPr>
        <p:sp>
          <p:nvSpPr>
            <p:cNvPr id="21" name="Rectangle 21"/>
            <p:cNvSpPr/>
            <p:nvPr/>
          </p:nvSpPr>
          <p:spPr>
            <a:xfrm>
              <a:off x="133350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3306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规范流程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51228" y="5077778"/>
              <a:ext cx="1422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强制 AI 按照规范工作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32863" y="5363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减少盲目修改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66725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6681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决策记录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54587" y="50777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6613" y="5363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便于后续维护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00100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0056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知识沉淀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00363" y="50777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便于后续维护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71038" y="53635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和知识沉淀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30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38912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流程控制的价值与测试验证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1333500" y="2095500"/>
            <a:ext cx="9525000" cy="1524000"/>
            <a:chOff x="1333500" y="2095500"/>
            <a:chExt cx="9525000" cy="1524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970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CodeGraph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8404" y="2632710"/>
              <a:ext cx="18129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 AI 知道"我在改什么"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166" y="2982278"/>
              <a:ext cx="21688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 AI 幻觉导致的代码理解偏差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166" y="32680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确保修改时知道影响范围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60642" y="2283142"/>
              <a:ext cx="903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OpenSpec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632710"/>
              <a:ext cx="19836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 AI 知道"我为什么要改"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2166" y="2982278"/>
              <a:ext cx="1720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强制 AI 按照规范流程工作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2166" y="32680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8" name="Rectangle 18"/>
          <p:cNvSpPr/>
          <p:nvPr/>
        </p:nvSpPr>
        <p:spPr>
          <a:xfrm>
            <a:off x="1333500" y="3973195"/>
            <a:ext cx="9525000" cy="7620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147887" y="4267200"/>
            <a:ext cx="78962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458B0"/>
                </a:solidFill>
                <a:latin typeface="+mn-lt"/>
                <a:ea typeface="+mn-ea"/>
                <a:cs typeface="+mn-cs"/>
              </a:rPr>
              <a:t>结合效果：减少 AI 的盲目修改 · 提高代码变更的可追溯性 · 形成完整的工程化闭环</a:t>
            </a:r>
            <a:endParaRPr lang="zh-CN" sz="1500" b="1" dirty="0">
              <a:solidFill>
                <a:srgbClr val="3458B0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5334000"/>
            <a:ext cx="9525000" cy="952500"/>
            <a:chOff x="1333500" y="5334000"/>
            <a:chExt cx="9525000" cy="952500"/>
          </a:xfrm>
        </p:grpSpPr>
        <p:sp>
          <p:nvSpPr>
            <p:cNvPr id="20" name="Rectangle 20"/>
            <p:cNvSpPr/>
            <p:nvPr/>
          </p:nvSpPr>
          <p:spPr>
            <a:xfrm>
              <a:off x="1333500" y="5334000"/>
              <a:ext cx="9525000" cy="952500"/>
            </a:xfrm>
            <a:prstGeom prst="roundRect">
              <a:avLst>
                <a:gd name="adj" fmla="val 8000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7642" y="5521642"/>
              <a:ext cx="2595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测试验证：代码完成 ≠ 功能完成</a:t>
              </a:r>
              <a:endParaRPr lang="zh-CN" sz="1350" b="1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8404" y="5823585"/>
              <a:ext cx="31578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UT 只是起点：</a:t>
              </a:r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84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个测试文件保证代码基本能力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8404" y="6061710"/>
              <a:ext cx="351028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人工测试不可少：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每次代码更新都进行大量人工测试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95852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 流水线质量管控：对抗 "AI Slop"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2286000" y="2286000"/>
            <a:ext cx="7620000" cy="1143000"/>
            <a:chOff x="2286000" y="2286000"/>
            <a:chExt cx="7620000" cy="1143000"/>
          </a:xfrm>
        </p:grpSpPr>
        <p:sp>
          <p:nvSpPr>
            <p:cNvPr id="8" name="Rectangle 8"/>
            <p:cNvSpPr/>
            <p:nvPr/>
          </p:nvSpPr>
          <p:spPr>
            <a:xfrm>
              <a:off x="2286000" y="2286000"/>
              <a:ext cx="7620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403446" y="2472690"/>
              <a:ext cx="3385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生成速度快，但信息密度低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1452" y="2886075"/>
              <a:ext cx="2869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容易产生 "AI Slop"（AI 垃圾）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" name="Rectangle 12"/>
          <p:cNvSpPr/>
          <p:nvPr/>
        </p:nvSpPr>
        <p:spPr>
          <a:xfrm>
            <a:off x="2286000" y="3810000"/>
            <a:ext cx="7620000" cy="762000"/>
          </a:xfrm>
          <a:prstGeom prst="roundRect">
            <a:avLst>
              <a:gd name="adj" fmla="val 10000"/>
            </a:avLst>
          </a:prstGeom>
          <a:solidFill>
            <a:schemeClr val="lt1"/>
          </a:solidFill>
          <a:ln w="9525">
            <a:solidFill>
              <a:schemeClr val="accent6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286000" y="3810000"/>
            <a:ext cx="57150" cy="76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660904" y="3966210"/>
            <a:ext cx="44927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"AI 产出速度越快，代码库越容易漂移，需要持续垃圾回收"</a:t>
            </a:r>
            <a:endParaRPr lang="zh-CN" sz="1200" i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661666" y="4268152"/>
            <a:ext cx="9409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— OpenAI 实践</a:t>
            </a:r>
            <a:endParaRPr lang="zh-CN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2286000" y="4953000"/>
            <a:ext cx="7620000" cy="9525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632960" y="513969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解决方案：流水线质量管控</a:t>
            </a:r>
            <a:endParaRPr lang="zh-CN" sz="18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485007" y="5537835"/>
            <a:ext cx="52219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上游输出是下游输入，每个环节都要 review，确保每阶段产出 90 分以上</a:t>
            </a:r>
            <a:endParaRPr lang="zh-CN" sz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8448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流水线模型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1333500" y="2476500"/>
            <a:ext cx="9334500" cy="952500"/>
            <a:chOff x="1333500" y="2476500"/>
            <a:chExt cx="9334500" cy="952500"/>
          </a:xfrm>
        </p:grpSpPr>
        <p:sp>
          <p:nvSpPr>
            <p:cNvPr id="7" name="Rectangle 7"/>
            <p:cNvSpPr/>
            <p:nvPr/>
          </p:nvSpPr>
          <p:spPr>
            <a:xfrm>
              <a:off x="1333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75485" y="26479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架构师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79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424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358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529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74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189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123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86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294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509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954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888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763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059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27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719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27" name="Rectangle 27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708404" y="4394835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上游输出是下游输入，信息多层传输容易丢失、错乱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3458B0"/>
            </a:solidFill>
            <a:ln w="9525" cap="flat" cmpd="sng">
              <a:solidFill>
                <a:schemeClr val="accent1"/>
              </a:solidFill>
              <a:prstDash val="solid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708404" y="5156835"/>
              <a:ext cx="372173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每个环节必须代入具体角色 review，不能"差不多就行"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08404" y="5918835"/>
              <a:ext cx="259715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关注信息密度，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不追求文档数量、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篇幅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3499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DAG 引擎案例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4 个环节的 review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609600" y="1905000"/>
            <a:ext cx="10972800" cy="3524250"/>
            <a:chOff x="609600" y="1905000"/>
            <a:chExt cx="10972800" cy="352425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10972800" cy="47625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58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环节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898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93782" y="2080260"/>
              <a:ext cx="937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重点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22607" y="2080260"/>
              <a:ext cx="10997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产出（≥90分）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2381250"/>
              <a:ext cx="109728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4905" y="2664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09088" y="26803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2844" y="2601278"/>
              <a:ext cx="899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DAG 数据结构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74464" y="2839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执行模型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81772" y="2680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架构设计文档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3143250"/>
              <a:ext cx="109728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44905" y="3426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8316" y="3442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产品经理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21087" y="3363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节点类型、用户体验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74464" y="3601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配置方式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81772" y="3442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产品需求文档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9600" y="3905250"/>
              <a:ext cx="109728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44905" y="4188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47544" y="4204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开发工程师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21087" y="4125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拓扑排序、条件分支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62438" y="4363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循环、并发控制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42530" y="4204335"/>
              <a:ext cx="16599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dag.go, executor.go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" y="4667250"/>
              <a:ext cx="109728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44905" y="4950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47544" y="4966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测试工程师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21087" y="4887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边界条件、并发安全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74464" y="5125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异常处理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77733" y="4966335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dag_test.go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8" name="Rectangle 38"/>
          <p:cNvSpPr/>
          <p:nvPr/>
        </p:nvSpPr>
        <p:spPr>
          <a:xfrm>
            <a:off x="1333500" y="5905500"/>
            <a:ext cx="9525000" cy="571500"/>
          </a:xfrm>
          <a:prstGeom prst="roundRect">
            <a:avLst>
              <a:gd name="adj" fmla="val 1333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448145" y="6109335"/>
            <a:ext cx="52957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每个环节 review 不合格，不往下传递 · 避免"AI 生成完就直接用"的陷阱</a:t>
            </a:r>
            <a:endParaRPr lang="zh-CN" sz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五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747706" y="2326958"/>
            <a:ext cx="4696587" cy="1450276"/>
            <a:chOff x="3747706" y="2326958"/>
            <a:chExt cx="4696587" cy="1450276"/>
          </a:xfrm>
        </p:grpSpPr>
        <p:sp>
          <p:nvSpPr>
            <p:cNvPr id="7" name="TextBox 7"/>
            <p:cNvSpPr txBox="1"/>
            <p:nvPr/>
          </p:nvSpPr>
          <p:spPr>
            <a:xfrm>
              <a:off x="3747706" y="2326958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高标准审美，不仅仅是快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004167" y="3044190"/>
              <a:ext cx="41836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减少 coding 成本 → 有更高标准要求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36212" y="3425190"/>
              <a:ext cx="3919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不满足于"能跑"，持续追求更好体验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五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57492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DAG 可视化演进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1333500" y="2095500"/>
            <a:ext cx="9525000" cy="799814"/>
            <a:chOff x="1333500" y="2095500"/>
            <a:chExt cx="9525000" cy="799814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66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V1.0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5544" y="2514124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自定义 SVG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26692" y="2704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水平布局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72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238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71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V2.0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86660" y="2514124"/>
              <a:ext cx="8276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VueFlow 框架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31692" y="2704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节点拖拽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77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143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76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V2.1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36692" y="2514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拓扑排序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25241" y="270462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DFS 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82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81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V2.2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6574" y="2514124"/>
              <a:ext cx="5878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Sugiyama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73619" y="2704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87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953500" y="2095500"/>
              <a:ext cx="1905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773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V3.0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25741" y="251412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ELK 布局</a:t>
              </a:r>
              <a:endPara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05264" y="2704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实时执行状态</a:t>
              </a:r>
              <a:endPara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333500" y="3238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291514" y="3409950"/>
            <a:ext cx="16089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 轮深色模式优化</a:t>
            </a:r>
            <a:endParaRPr lang="zh-CN" sz="15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201412" y="3728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持续追求视觉体验的完美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五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5717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高并发实时进度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1333500" y="2095500"/>
            <a:ext cx="9525000" cy="2476500"/>
            <a:chOff x="1333500" y="2095500"/>
            <a:chExt cx="9525000" cy="2476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聚合视图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8404" y="25850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按节点聚合展示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823210"/>
              <a:ext cx="1732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通过/失败/跳过/运行中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286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60642" y="2283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单链路视图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1404" y="25850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选择具体链路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823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查看循环进度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07642" y="36166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高并发优化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8404" y="39185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链路选择器冻结快照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8404" y="4156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防止跳动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60642" y="3616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实时推送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61404" y="3918585"/>
              <a:ext cx="15579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WebSocket 实时推送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404" y="41567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200ms 节流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六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403446" y="2326958"/>
            <a:ext cx="3385109" cy="1069276"/>
            <a:chOff x="4403446" y="2326958"/>
            <a:chExt cx="3385109" cy="1069276"/>
          </a:xfrm>
        </p:grpSpPr>
        <p:sp>
          <p:nvSpPr>
            <p:cNvPr id="7" name="TextBox 7"/>
            <p:cNvSpPr txBox="1"/>
            <p:nvPr/>
          </p:nvSpPr>
          <p:spPr>
            <a:xfrm>
              <a:off x="4807839" y="232695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懒是第一动力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03446" y="3044190"/>
              <a:ext cx="3385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助力，让繁琐工作变得高效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33500" y="4191000"/>
            <a:ext cx="9525000" cy="1143000"/>
            <a:chOff x="1333500" y="4191000"/>
            <a:chExt cx="9525000" cy="1143000"/>
          </a:xfrm>
        </p:grpSpPr>
        <p:sp>
          <p:nvSpPr>
            <p:cNvPr id="10" name="Rectangle 10"/>
            <p:cNvSpPr/>
            <p:nvPr/>
          </p:nvSpPr>
          <p:spPr>
            <a:xfrm>
              <a:off x="133350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59433" y="4378642"/>
              <a:ext cx="80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scripts/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52294" y="4680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自动化脚本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91512" y="49825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一键执行复杂任务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66725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95185" y="4378642"/>
              <a:ext cx="8016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Makefile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86044" y="4680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自动化构建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37288" y="49825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标准化流程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59418" y="4378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文档生成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00566" y="4680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自动生成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00363" y="4982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减少手动维护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六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效率提升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1333500" y="2095500"/>
            <a:ext cx="9525000" cy="2667000"/>
            <a:chOff x="1333500" y="2095500"/>
            <a:chExt cx="9525000" cy="2667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09950" y="2314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以前</a:t>
              </a:r>
              <a:endPara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2476500" y="2667000"/>
              <a:ext cx="22860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49168" y="2902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人写脚本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09544" y="3299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心智负担重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90316" y="3680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容易出错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09544" y="4061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维护成本高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99252" y="2910840"/>
              <a:ext cx="3934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4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667500" y="2095500"/>
              <a:ext cx="4191000" cy="2667000"/>
            </a:xfrm>
            <a:prstGeom prst="roundRect">
              <a:avLst>
                <a:gd name="adj" fmla="val 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53450" y="2314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现在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810500" y="2667000"/>
              <a:ext cx="1905000" cy="190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3704" y="2902268"/>
              <a:ext cx="618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助力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91500" y="3299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高效且保障质量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53044" y="3680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自动化生成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33816" y="4061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易于维护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7308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评估与实现分离：不盲目相信 AI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2286000" y="2286000"/>
            <a:ext cx="7620000" cy="1143000"/>
            <a:chOff x="2286000" y="2286000"/>
            <a:chExt cx="7620000" cy="1143000"/>
          </a:xfrm>
        </p:grpSpPr>
        <p:sp>
          <p:nvSpPr>
            <p:cNvPr id="8" name="Rectangle 8"/>
            <p:cNvSpPr/>
            <p:nvPr/>
          </p:nvSpPr>
          <p:spPr>
            <a:xfrm>
              <a:off x="2286000" y="2286000"/>
              <a:ext cx="7620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89576" y="2472690"/>
              <a:ext cx="2212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Anthropic 最佳实践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17111" y="2886075"/>
              <a:ext cx="4957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会高估自己的工作质量，必须将生成和评估分离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8404" y="4394835"/>
              <a:ext cx="2774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同一次会话中"自己审自己"会自我原谅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08404" y="5156835"/>
              <a:ext cx="52660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多方案对比：让 AI 给多套方案，不选工作量小的，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而选对需求完成度最有利的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8404" y="5918835"/>
              <a:ext cx="5917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独立评估会话：用另一个 AI 会话来评估方案合理性，追问原理，不完全相信 AI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实践案例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609600" y="1905000"/>
            <a:ext cx="10972800" cy="3048000"/>
            <a:chOff x="609600" y="1905000"/>
            <a:chExt cx="10972800" cy="3048000"/>
          </a:xfrm>
        </p:grpSpPr>
        <p:sp>
          <p:nvSpPr>
            <p:cNvPr id="7" name="Rectangle 7"/>
            <p:cNvSpPr/>
            <p:nvPr/>
          </p:nvSpPr>
          <p:spPr>
            <a:xfrm>
              <a:off x="609600" y="1905000"/>
              <a:ext cx="10972800" cy="47625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373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14316" y="2080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实现会话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3816" y="2080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评估会话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381250"/>
              <a:ext cx="109728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17509" y="2711768"/>
              <a:ext cx="1174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引擎设计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72762" y="264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实现拓扑排序算法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2086" y="28870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62938" y="26489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评估算法正确性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3613" y="28870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边界条件审查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3238500"/>
              <a:ext cx="10972800" cy="857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52931" y="35690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加密插件开发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07154" y="3506152"/>
              <a:ext cx="1272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 AES-CBC 加密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02086" y="3744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04288" y="35061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评估安全性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92262" y="3744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性能、兼容性审查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095750"/>
              <a:ext cx="109728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52931" y="4426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前端组件重构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7413" y="4363402"/>
              <a:ext cx="1392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重构 DAG 可视化组件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02086" y="46015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33613" y="4363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评估用户体验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3613" y="4601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性能影响审查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Rectangle 30"/>
          <p:cNvSpPr/>
          <p:nvPr/>
        </p:nvSpPr>
        <p:spPr>
          <a:xfrm>
            <a:off x="1333500" y="5524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735400" y="5728335"/>
            <a:ext cx="4721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实现会话：专注编码，快速迭代 · 评估会话：专注审查，发现问题</a:t>
            </a:r>
            <a:endParaRPr lang="zh-CN" sz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797552" y="6014085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人工介入：看代码、问原理、做决策</a:t>
            </a:r>
            <a:endParaRPr lang="zh-CN" sz="12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关键原则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1333500" y="2095500"/>
            <a:ext cx="9525000" cy="2476500"/>
            <a:chOff x="1333500" y="2095500"/>
            <a:chExt cx="9525000" cy="2476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88642" y="2283142"/>
              <a:ext cx="1740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可以 24 小时工作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但人必须保持清醒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286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60642" y="22831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41642" y="2283142"/>
              <a:ext cx="1495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不追求"最快完成"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632710"/>
              <a:ext cx="132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而追求"最好完成"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07642" y="36166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88642" y="36166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多方案对比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8404" y="3966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是成本最低的优化方式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60642" y="36166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41642" y="3616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追问原理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404" y="39662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是建立技术判断力的关键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73993" y="605885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27</a:t>
            </a:r>
            <a:endParaRPr lang="en-US" sz="1050" dirty="0">
              <a:solidFill>
                <a:srgbClr val="DCE1E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体验八</a:t>
            </a:r>
            <a:endParaRPr lang="zh-CN" sz="10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38100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核心洞察</a:t>
            </a:r>
            <a:endParaRPr lang="zh-CN" sz="2700" b="1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95884" y="1524000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7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AI 辅助开发的质量护城河：五道防线，层层递进</a:t>
            </a:r>
            <a:endParaRPr lang="zh-CN" sz="13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904875" y="188595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1190625" y="2057400"/>
            <a:ext cx="381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30480" rIns="0" bIns="0" anchor="t" anchorCtr="0">
            <a:noAutofit/>
          </a:bodyPr>
          <a:lstStyle/>
          <a:p>
            <a:pPr algn="ctr"/>
            <a:r>
              <a:rPr lang="en-US" sz="2100" b="1" dirty="0">
                <a:solidFill>
                  <a:srgbClr val="5B8DE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</a:t>
            </a:r>
            <a:endParaRPr lang="en-US" sz="2100" b="1" dirty="0">
              <a:solidFill>
                <a:srgbClr val="5B8DE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762125" y="20764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25717" rIns="0" bIns="0" anchor="t" anchorCtr="0">
            <a:noAutofit/>
          </a:bodyPr>
          <a:lstStyle/>
          <a:p>
            <a:pPr algn="l"/>
            <a:r>
              <a:rPr lang="zh-CN" sz="1350" b="1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严格的 AI 辅助流程</a:t>
            </a:r>
            <a:endParaRPr lang="zh-CN" sz="1350" b="1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762125" y="232410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0006" rIns="0" bIns="0" anchor="t" anchorCtr="0">
            <a:noAutofit/>
          </a:bodyPr>
          <a:lstStyle/>
          <a:p>
            <a:pPr algn="l"/>
            <a:r>
              <a:rPr lang="zh-CN" sz="1120" dirty="0">
                <a:solidFill>
                  <a:srgbClr val="8A92A6"/>
                </a:solidFill>
                <a:latin typeface="Arial" panose="020B0604020202090204"/>
                <a:ea typeface="微软雅黑"/>
                <a:cs typeface="Arial" panose="020B0604020202090204"/>
              </a:rPr>
              <a:t>brainstorming→OpenSpec→TDD→checklist→git，每步有知识库约束</a:t>
            </a:r>
            <a:endParaRPr lang="zh-CN" sz="1120" dirty="0">
              <a:solidFill>
                <a:srgbClr val="8A92A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904875" y="283845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EDF1F9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1190625" y="3009900"/>
            <a:ext cx="381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30480" rIns="0" bIns="0" anchor="t" anchorCtr="0">
            <a:noAutofit/>
          </a:bodyPr>
          <a:lstStyle/>
          <a:p>
            <a:pPr algn="ctr"/>
            <a:r>
              <a:rPr lang="en-US" sz="2100" b="1" dirty="0">
                <a:solidFill>
                  <a:srgbClr val="5B8DE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</a:t>
            </a:r>
            <a:endParaRPr lang="en-US" sz="2100" b="1" dirty="0">
              <a:solidFill>
                <a:srgbClr val="5B8DE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762125" y="30289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25717" rIns="0" bIns="0" anchor="t" anchorCtr="0">
            <a:noAutofit/>
          </a:bodyPr>
          <a:lstStyle/>
          <a:p>
            <a:pPr algn="l"/>
            <a:r>
              <a:rPr lang="zh-CN" sz="1350" b="1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rPr>
              <a:t>流水线每一步文档 review</a:t>
            </a:r>
            <a:endParaRPr lang="zh-CN" sz="1350" b="1" dirty="0">
              <a:solidFill>
                <a:srgbClr val="3458B0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762125" y="327660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0006" rIns="0" bIns="0" anchor="t" anchorCtr="0">
            <a:noAutofit/>
          </a:bodyPr>
          <a:lstStyle/>
          <a:p>
            <a:pPr algn="l"/>
            <a:r>
              <a:rPr lang="zh-CN" sz="112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上游输出是下游输入，每环节代入角色 review，确保产出 ≥ 90 分</a:t>
            </a:r>
            <a:endParaRPr lang="zh-CN" sz="112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904875" y="379095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D6E0F5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1190625" y="3962400"/>
            <a:ext cx="381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30480" rIns="0" bIns="0" anchor="t" anchorCtr="0">
            <a:noAutofit/>
          </a:bodyPr>
          <a:lstStyle/>
          <a:p>
            <a:pPr algn="ctr"/>
            <a:r>
              <a:rPr lang="en-US" sz="2100" b="1" dirty="0">
                <a:solidFill>
                  <a:srgbClr val="3458B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  <a:endParaRPr lang="en-US" sz="2100" b="1" dirty="0">
              <a:solidFill>
                <a:srgbClr val="3458B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762125" y="39814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25717" rIns="0" bIns="0" anchor="t" anchorCtr="0">
            <a:noAutofit/>
          </a:bodyPr>
          <a:lstStyle/>
          <a:p>
            <a:pPr algn="l"/>
            <a:r>
              <a:rPr lang="zh-CN" sz="1350" b="1" dirty="0">
                <a:solidFill>
                  <a:srgbClr val="1F3A78"/>
                </a:solidFill>
                <a:latin typeface="Arial" panose="020B0604020202090204"/>
                <a:ea typeface="微软雅黑"/>
                <a:cs typeface="Arial" panose="020B0604020202090204"/>
              </a:rPr>
              <a:t>知识库 + Lessons Learned 提前预防</a:t>
            </a:r>
            <a:endParaRPr lang="zh-CN" sz="1350" b="1" dirty="0">
              <a:solidFill>
                <a:srgbClr val="1F3A78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1762125" y="422910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0006" rIns="0" bIns="0" anchor="t" anchorCtr="0">
            <a:noAutofit/>
          </a:bodyPr>
          <a:lstStyle/>
          <a:p>
            <a:pPr algn="l"/>
            <a:r>
              <a:rPr lang="zh-CN" sz="1120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rPr>
              <a:t>8 个 Lessons Learned 案例，1660 行知识按需加载，避免重复踩坑</a:t>
            </a:r>
            <a:endParaRPr lang="zh-CN" sz="1120" dirty="0">
              <a:solidFill>
                <a:srgbClr val="3458B0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904875" y="474345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1190625" y="4914900"/>
            <a:ext cx="381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30480" rIns="0" bIns="0" anchor="t" anchorCtr="0">
            <a:noAutofit/>
          </a:bodyPr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</a:t>
            </a:r>
            <a:endParaRPr lang="en-US" sz="210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1762125" y="49339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25718" rIns="0" bIns="0" anchor="t" anchorCtr="0">
            <a:no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单元测试</a:t>
            </a:r>
            <a:endParaRPr lang="zh-CN" sz="13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8" name="Freeform 38"/>
          <p:cNvSpPr/>
          <p:nvPr/>
        </p:nvSpPr>
        <p:spPr>
          <a:xfrm>
            <a:off x="1762125" y="518160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0006" rIns="0" bIns="0" anchor="t" anchorCtr="0">
            <a:noAutofit/>
          </a:bodyPr>
          <a:lstStyle/>
          <a:p>
            <a:pPr algn="l"/>
            <a:r>
              <a:rPr lang="zh-CN" sz="1120" dirty="0">
                <a:solidFill>
                  <a:srgbClr val="DCE1EA"/>
                </a:solidFill>
                <a:latin typeface="Arial" panose="020B0604020202090204"/>
                <a:ea typeface="微软雅黑"/>
                <a:cs typeface="Arial" panose="020B0604020202090204"/>
              </a:rPr>
              <a:t>84 个测试文件，TDD 红绿重构，覆盖率 60.8%，对抗 AI Slop 最后防线</a:t>
            </a:r>
            <a:endParaRPr lang="zh-CN" sz="1120" dirty="0">
              <a:solidFill>
                <a:srgbClr val="DCE1E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0" name="Freeform 40"/>
          <p:cNvSpPr/>
          <p:nvPr/>
        </p:nvSpPr>
        <p:spPr>
          <a:xfrm>
            <a:off x="904875" y="5695950"/>
            <a:ext cx="10287000" cy="696595"/>
          </a:xfrm>
          <a:prstGeom prst="roundRect">
            <a:avLst>
              <a:gd name="adj" fmla="val 13333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1190625" y="5819775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15240" rIns="0" bIns="0" anchor="t" anchorCtr="0">
            <a:noAutofit/>
          </a:bodyPr>
          <a:lstStyle/>
          <a:p>
            <a:pPr algn="ctr"/>
            <a:r>
              <a:rPr lang="en-US" sz="1800" b="1" dirty="0">
                <a:solidFill>
                  <a:srgbClr val="5B8DE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</a:t>
            </a:r>
            <a:endParaRPr lang="en-US" sz="1800" b="1" dirty="0">
              <a:solidFill>
                <a:srgbClr val="5B8DE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1762125" y="5819775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25718" rIns="0" bIns="0" anchor="t" anchorCtr="0">
            <a:no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人工测试兜底</a:t>
            </a:r>
            <a:endParaRPr lang="zh-CN" sz="13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1762125" y="6067425"/>
            <a:ext cx="8763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DCE1EA"/>
                </a:solidFill>
                <a:latin typeface="Arial" panose="020B0604020202090204"/>
                <a:ea typeface="微软雅黑"/>
                <a:cs typeface="Arial" panose="020B0604020202090204"/>
              </a:rPr>
              <a:t>不信任 AI 的"完成"声明，用实际运行验证代码质量</a:t>
            </a:r>
            <a:endParaRPr lang="zh-CN" sz="1050" dirty="0">
              <a:solidFill>
                <a:srgbClr val="DCE1E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71569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AI 生成代码的高频翻车清单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78846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知道 AI 会在哪里翻车，提前设防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2095500"/>
            <a:ext cx="9525000" cy="3619500"/>
            <a:chOff x="1333500" y="2095500"/>
            <a:chExt cx="9525000" cy="36195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6880" y="22669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83892" y="2283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边界条件处理偏弱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8404" y="258508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空值、极端输入、并发场景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3500" y="30480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6880" y="3219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83892" y="3235642"/>
              <a:ext cx="1677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安全代码"看起来对"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8404" y="3537585"/>
              <a:ext cx="25895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SQL 拼接、XSS 过滤存在绕过路径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40005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6880" y="41719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83892" y="4188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模块间集成缝隙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08404" y="449008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接口契约、数据格式、异常传播链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33500" y="49530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6880" y="5124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83892" y="51406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非功能性需求靠人兜底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8404" y="544258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性能、可观测性、容错降级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671639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案例</a:t>
            </a:r>
            <a:r>
              <a:rPr lang="en-US" alt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：</a:t>
            </a:r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知识库预防——统一规范避免不一致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1333500" y="2095500"/>
            <a:ext cx="9525000" cy="2667000"/>
            <a:chOff x="1333500" y="2095500"/>
            <a:chExt cx="9525000" cy="2667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2467" y="2283142"/>
              <a:ext cx="2179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number-formatting.md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171450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09166" y="27917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数值格式化规范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547" y="3085624"/>
              <a:ext cx="13228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百分比统一 3 位小数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547" y="3323749"/>
              <a:ext cx="12726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QPS 保留 3 位小数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3561874"/>
              <a:ext cx="11711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延迟自动切换单位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9547" y="3799999"/>
              <a:ext cx="742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&lt;1s 显示 ms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9547" y="4038124"/>
              <a:ext cx="6431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≥1s 显示 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359241" y="2283142"/>
              <a:ext cx="1473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chart-style.md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4825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2916" y="2791778"/>
              <a:ext cx="12111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ECharts 图表样式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3297" y="3085624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预计算布尔变量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3297" y="3323749"/>
              <a:ext cx="12238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禁止使用 sampling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3297" y="3561874"/>
              <a:ext cx="15334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setOption 必须传 true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3297" y="3799999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颜色语义化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43297" y="4038124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响应式配置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0100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69320" y="2283142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ui-spacing.md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38200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76666" y="2791778"/>
              <a:ext cx="788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UI 间距规范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7047" y="3085624"/>
              <a:ext cx="9072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卡片间距统一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7047" y="3323749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按钮内边距统一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7047" y="3561874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避免视觉不一致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7047" y="3799999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响应式断点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77047" y="4038124"/>
              <a:ext cx="9072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组件层级规范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02666" y="505778"/>
            <a:ext cx="356870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en-US" alt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X</a:t>
            </a:r>
            <a:endParaRPr lang="en-US" alt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328231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案例</a:t>
            </a:r>
            <a:r>
              <a:rPr lang="en-US" alt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</a:t>
            </a:r>
            <a:r>
              <a:rPr lang="zh-CN" altLang="en-US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：</a:t>
            </a:r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单元测试体验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5211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 时代的 UT 实践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609600" y="1905000"/>
            <a:ext cx="5143500" cy="2857500"/>
            <a:chOff x="609600" y="1905000"/>
            <a:chExt cx="5143500" cy="285750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5143500" cy="2857500"/>
            </a:xfrm>
            <a:prstGeom prst="roundRect">
              <a:avLst>
                <a:gd name="adj" fmla="val 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4880" y="2076450"/>
              <a:ext cx="14661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Salvo TDD 策略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404" y="2489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测试金字塔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7666" y="2744152"/>
              <a:ext cx="993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70% 单元测试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666" y="2982278"/>
              <a:ext cx="993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20% 集成测试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666" y="3220402"/>
              <a:ext cx="1134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10% 端到端测试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6404" y="35852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覆盖率目标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666" y="3839528"/>
              <a:ext cx="1598930" cy="645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≥ 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90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% 覆盖率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- </a:t>
              </a:r>
              <a:r>
                <a:rPr lang="zh-CN" alt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核心</a:t>
              </a:r>
              <a:r>
                <a:rPr lang="zh-CN" alt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</a:t>
              </a:r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050" dirty="0">
                  <a:solidFill>
                    <a:schemeClr val="accent5"/>
                  </a:solidFill>
                  <a:sym typeface="+mn-ea"/>
                </a:rPr>
                <a:t>≥ </a:t>
              </a:r>
              <a:r>
                <a:rPr lang="en-US" altLang="zh-CN" sz="1050" dirty="0">
                  <a:solidFill>
                    <a:schemeClr val="accent5"/>
                  </a:solidFill>
                  <a:sym typeface="+mn-ea"/>
                </a:rPr>
                <a:t>50</a:t>
              </a:r>
              <a:r>
                <a:rPr lang="zh-CN" sz="1050" dirty="0">
                  <a:solidFill>
                    <a:schemeClr val="accent5"/>
                  </a:solidFill>
                  <a:sym typeface="+mn-ea"/>
                </a:rPr>
                <a:t>% 覆盖率</a:t>
              </a:r>
              <a:r>
                <a:rPr lang="en-US" altLang="zh-CN" sz="1050" dirty="0">
                  <a:solidFill>
                    <a:schemeClr val="accent5"/>
                  </a:solidFill>
                  <a:sym typeface="+mn-ea"/>
                </a:rPr>
                <a:t> - </a:t>
              </a:r>
              <a:r>
                <a:rPr lang="zh-CN" altLang="en-US" sz="1050" dirty="0">
                  <a:solidFill>
                    <a:schemeClr val="accent5"/>
                  </a:solidFill>
                  <a:sym typeface="+mn-ea"/>
                </a:rPr>
                <a:t>非核心模块</a:t>
              </a:r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404" y="4204335"/>
              <a:ext cx="127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8047" y="4466749"/>
              <a:ext cx="12700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38900" y="1905000"/>
            <a:ext cx="5143500" cy="1333500"/>
            <a:chOff x="6438900" y="1905000"/>
            <a:chExt cx="5143500" cy="1333500"/>
          </a:xfrm>
        </p:grpSpPr>
        <p:sp>
          <p:nvSpPr>
            <p:cNvPr id="19" name="Rectangle 19"/>
            <p:cNvSpPr/>
            <p:nvPr/>
          </p:nvSpPr>
          <p:spPr>
            <a:xfrm>
              <a:off x="6438900" y="1905000"/>
              <a:ext cx="51435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74180" y="2076450"/>
              <a:ext cx="1024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Salvo 实践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65798" y="2279332"/>
              <a:ext cx="444500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84</a:t>
              </a:r>
              <a:endParaRPr lang="en-US" alt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1880" y="24574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 _test.go 文件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75704" y="2823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每个模块都有对应测试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438900" y="3429000"/>
            <a:ext cx="5143500" cy="1905000"/>
            <a:chOff x="6438900" y="3429000"/>
            <a:chExt cx="5143500" cy="1905000"/>
          </a:xfrm>
        </p:grpSpPr>
        <p:sp>
          <p:nvSpPr>
            <p:cNvPr id="25" name="Rectangle 25"/>
            <p:cNvSpPr/>
            <p:nvPr/>
          </p:nvSpPr>
          <p:spPr>
            <a:xfrm>
              <a:off x="6438900" y="3429000"/>
              <a:ext cx="5143500" cy="1905000"/>
            </a:xfrm>
            <a:prstGeom prst="roundRect">
              <a:avLst>
                <a:gd name="adj" fmla="val 4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4942" y="3616642"/>
              <a:ext cx="2579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生成代码的"高频翻车清单"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6466" y="3982402"/>
              <a:ext cx="1254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边界条件处理偏弱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76466" y="4220528"/>
              <a:ext cx="14103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安全代码"看起来对"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76466" y="4458652"/>
              <a:ext cx="1113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模块间集成缝隙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76466" y="4696778"/>
              <a:ext cx="1537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非功能性需求靠人兜底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333500" y="5524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160660" y="5758815"/>
            <a:ext cx="387068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UT 是对抗 AI Slop 的最后一道防线</a:t>
            </a:r>
            <a:endParaRPr lang="zh-CN" sz="18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34</a:t>
            </a:r>
            <a:endParaRPr lang="en-US" sz="1050" dirty="0">
              <a:solidFill>
                <a:srgbClr val="DCE1E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体验八</a:t>
            </a:r>
            <a:endParaRPr lang="zh-CN" sz="10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52387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单元测试示例：全链路验证</a:t>
            </a:r>
            <a:endParaRPr lang="zh-CN" sz="2700" b="1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95884" y="1524000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7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TestSOPlugin_FullChain — 6 步串联 4 个组件层，无 mock 核心环节</a:t>
            </a:r>
            <a:endParaRPr lang="zh-CN" sz="13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333500" y="209550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428750" y="219075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905000" y="22098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API 上传插件记录 → HTTP POST /so-plugins/create → SQLite 持久化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333500" y="276225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1428750" y="285750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905000" y="28765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创建表达式函数注册表 → expr.NewFunctionRegistry()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333500" y="342900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1428750" y="352425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1905000" y="35433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Loader 注册内存插件 → so.NewLoader().Register(aesPlugin)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333500" y="409575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1428750" y="419100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1905000" y="42100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注册 __so 桥接函数 → so.RegisterSO(reg, loader)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333500" y="476250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1428750" y="485775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101918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3458B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lang="en-US" sz="1350" b="1" dirty="0">
              <a:solidFill>
                <a:srgbClr val="3458B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1905000" y="48768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表达式引擎调用插件加解密 → encrypt → decrypt 验证往返一致</a:t>
            </a:r>
            <a:endParaRPr lang="zh-CN" sz="1200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1333500" y="542925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1428750" y="552450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8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0" name="Freeform 40"/>
          <p:cNvSpPr/>
          <p:nvPr/>
        </p:nvSpPr>
        <p:spPr>
          <a:xfrm>
            <a:off x="1905000" y="55435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回查 DB 验证记录仍存在 → POST /so-plugins/get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6858000" y="2095500"/>
            <a:ext cx="4000500" cy="3905250"/>
          </a:xfrm>
          <a:prstGeom prst="roundRect">
            <a:avLst>
              <a:gd name="adj" fmla="val 4762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7239000" y="2333625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5715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rPr>
              <a:t>亮</a:t>
            </a:r>
            <a:r>
              <a:rPr lang="zh-CN" sz="1500" b="1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rPr>
              <a:t>点</a:t>
            </a:r>
            <a:endParaRPr lang="zh-CN" sz="1500" b="1" dirty="0">
              <a:solidFill>
                <a:srgbClr val="3458B0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7239000" y="295275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链路长且每一环真实执行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7" name="Freeform 47"/>
          <p:cNvSpPr/>
          <p:nvPr/>
        </p:nvSpPr>
        <p:spPr>
          <a:xfrm>
            <a:off x="7239000" y="319087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HTTP API → 鉴权 → 数据库 → 插件加载器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9" name="Freeform 49"/>
          <p:cNvSpPr/>
          <p:nvPr/>
        </p:nvSpPr>
        <p:spPr>
          <a:xfrm>
            <a:off x="7239000" y="338137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→ 表达式引擎 → AES 加密算法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1" name="Freeform 51"/>
          <p:cNvSpPr/>
          <p:nvPr/>
        </p:nvSpPr>
        <p:spPr>
          <a:xfrm>
            <a:off x="7239000" y="381000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加密→解密→断言原文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3" name="Freeform 53"/>
          <p:cNvSpPr/>
          <p:nvPr/>
        </p:nvSpPr>
        <p:spPr>
          <a:xfrm>
            <a:off x="7239000" y="404812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业务闭环验证逻辑直观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5" name="Freeform 55"/>
          <p:cNvSpPr/>
          <p:nvPr/>
        </p:nvSpPr>
        <p:spPr>
          <a:xfrm>
            <a:off x="7239000" y="447675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覆盖三大特色模块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7239000" y="471487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SO 插件热加载 + 表达式引擎 + API 层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9" name="Freeform 59"/>
          <p:cNvSpPr/>
          <p:nvPr/>
        </p:nvSpPr>
        <p:spPr>
          <a:xfrm>
            <a:off x="7239000" y="514350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无 mock 核心环节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1" name="Freeform 61"/>
          <p:cNvSpPr/>
          <p:nvPr/>
        </p:nvSpPr>
        <p:spPr>
          <a:xfrm>
            <a:off x="7239000" y="538162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没有 mock 掉数据库、插件加载、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3" name="Freeform 63"/>
          <p:cNvSpPr/>
          <p:nvPr/>
        </p:nvSpPr>
        <p:spPr>
          <a:xfrm>
            <a:off x="7239000" y="557212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表达式引擎等核心组件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/>
          <p:nvPr/>
        </p:nvSpPr>
        <p:spPr>
          <a:xfrm>
            <a:off x="595884" y="851535"/>
            <a:ext cx="41965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单元测试实际</a:t>
            </a:r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效果</a:t>
            </a:r>
            <a:endParaRPr lang="zh-CN" sz="2700" b="1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39982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知识库 + 测试 = 双重防线，提前设防 AI 翻车点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333500" y="2095500"/>
            <a:ext cx="9525000" cy="3429000"/>
            <a:chOff x="1333500" y="2095500"/>
            <a:chExt cx="9525000" cy="3429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95250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635246" y="23307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每个模块都有对应的 _test.go 文件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56910" y="2529840"/>
              <a:ext cx="678180" cy="738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84</a:t>
              </a:r>
              <a:endParaRPr lang="en-US" altLang="zh-CN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3555" y="31718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个测试文件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3500" y="3619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7642" y="3807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测试金字塔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14500" y="4143375"/>
              <a:ext cx="381000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79512" y="4220528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70% 单元测试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95500" y="4476750"/>
              <a:ext cx="3048000" cy="28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179512" y="4553902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20% 集成测试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76500" y="4810125"/>
              <a:ext cx="2286000" cy="285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08836" y="48872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10% 端到端测试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86500" y="3619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60642" y="3807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覆盖率目标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3784" y="4042410"/>
              <a:ext cx="320357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≥ </a:t>
              </a:r>
              <a:r>
                <a:rPr lang="en-US" alt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92</a:t>
              </a:r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%核心包，</a:t>
              </a:r>
              <a:r>
                <a:rPr lang="zh-CN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整体</a:t>
              </a:r>
              <a:r>
                <a:rPr lang="en-US" altLang="zh-CN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60.8%</a:t>
              </a:r>
              <a:endParaRPr lang="en-US" altLang="zh-CN" sz="14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61404" y="4490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行覆盖率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1404" y="48710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工具链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2547" y="5133499"/>
              <a:ext cx="22460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testing + testify + testcontainers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547" y="5323999"/>
              <a:ext cx="16194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httptest + go test -race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32</a:t>
            </a:r>
            <a:endParaRPr lang="en-US" sz="1050" dirty="0">
              <a:solidFill>
                <a:srgbClr val="DCE1E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体验八</a:t>
            </a:r>
            <a:endParaRPr lang="zh-CN" sz="10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2857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alt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Salvo</a:t>
            </a:r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质量</a:t>
            </a:r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画像</a:t>
            </a:r>
            <a:endParaRPr lang="zh-CN" sz="2700" b="1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1333500" y="2095500"/>
            <a:ext cx="9715500" cy="1333500"/>
            <a:chOff x="1333500" y="2095500"/>
            <a:chExt cx="9715500" cy="1333500"/>
          </a:xfrm>
        </p:grpSpPr>
        <p:sp>
          <p:nvSpPr>
            <p:cNvPr id="10" name="Freeform 10"/>
            <p:cNvSpPr/>
            <p:nvPr/>
          </p:nvSpPr>
          <p:spPr>
            <a:xfrm>
              <a:off x="13335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192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Git 提交</a:t>
              </a:r>
              <a:endParaRPr lang="zh-CN" sz="120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6192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212</a:t>
              </a:r>
              <a:endParaRPr lang="en-US" sz="31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6192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bugfix 80 (37.7%)</a:t>
              </a:r>
              <a:endParaRPr lang="en-US" sz="105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7" name="Freeform 17"/>
            <p:cNvSpPr/>
            <p:nvPr/>
          </p:nvSpPr>
          <p:spPr>
            <a:xfrm>
              <a:off x="38100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0957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业务代码</a:t>
              </a:r>
              <a:endParaRPr lang="zh-CN" sz="120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0957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59K</a:t>
              </a:r>
              <a:endParaRPr lang="en-US" sz="31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0957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Go 43.3K + Vue 15.3K</a:t>
              </a:r>
              <a:endParaRPr lang="en-US" sz="105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2865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5722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测试文件</a:t>
              </a:r>
              <a:endParaRPr lang="zh-CN" sz="120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5722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84</a:t>
              </a:r>
              <a:endParaRPr lang="en-US" sz="31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5722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Go *_test.go 文件</a:t>
              </a:r>
              <a:endParaRPr lang="zh-CN" sz="105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7630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90487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覆盖率</a:t>
              </a:r>
              <a:endParaRPr lang="zh-CN" sz="120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4" name="Freeform 34"/>
            <p:cNvSpPr/>
            <p:nvPr/>
          </p:nvSpPr>
          <p:spPr>
            <a:xfrm>
              <a:off x="90487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60.8%</a:t>
              </a:r>
              <a:endParaRPr lang="en-US" sz="31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6" name="Freeform 36"/>
            <p:cNvSpPr/>
            <p:nvPr/>
          </p:nvSpPr>
          <p:spPr>
            <a:xfrm>
              <a:off x="90487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核心引擎 </a:t>
              </a:r>
              <a:r>
                <a:rPr lang="en-US" altLang="zh-CN" sz="105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92</a:t>
              </a:r>
              <a:r>
                <a:rPr lang="zh-CN" sz="105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%</a:t>
              </a:r>
              <a:endParaRPr lang="zh-CN" sz="105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33500" y="4000500"/>
            <a:ext cx="9525000" cy="1143000"/>
            <a:chOff x="1333500" y="4000500"/>
            <a:chExt cx="9525000" cy="1143000"/>
          </a:xfrm>
        </p:grpSpPr>
        <p:sp>
          <p:nvSpPr>
            <p:cNvPr id="39" name="Freeform 39"/>
            <p:cNvSpPr/>
            <p:nvPr/>
          </p:nvSpPr>
          <p:spPr>
            <a:xfrm>
              <a:off x="1333500" y="4000500"/>
              <a:ext cx="3048000" cy="1143000"/>
            </a:xfrm>
            <a:prstGeom prst="roundRect">
              <a:avLst>
                <a:gd name="adj" fmla="val 666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707642" y="4188142"/>
              <a:ext cx="1728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3458B0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后端 Go</a:t>
              </a:r>
              <a:endParaRPr lang="zh-CN" sz="1350" b="1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2" name="Freeform 42"/>
            <p:cNvSpPr/>
            <p:nvPr/>
          </p:nvSpPr>
          <p:spPr>
            <a:xfrm>
              <a:off x="1708404" y="4490085"/>
              <a:ext cx="1905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4</a:t>
              </a:r>
              <a:r>
                <a:rPr lang="en-US" alt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3, 342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行 / 1</a:t>
              </a:r>
              <a:r>
                <a:rPr lang="en-US" alt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84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文件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4" name="Freeform 44"/>
            <p:cNvSpPr/>
            <p:nvPr/>
          </p:nvSpPr>
          <p:spPr>
            <a:xfrm>
              <a:off x="1708404" y="47282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3" rIns="0" bIns="0" anchor="t" anchorCtr="0">
              <a:noAutofit/>
            </a:bodyPr>
            <a:lstStyle/>
            <a:p>
              <a:pPr algn="l"/>
              <a:r>
                <a:rPr lang="en-US" sz="1050" dirty="0">
                  <a:solidFill>
                    <a:srgbClr val="59606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internal/ + cmd/</a:t>
              </a:r>
              <a:endParaRPr lang="en-US" sz="1050" dirty="0">
                <a:solidFill>
                  <a:srgbClr val="59606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46" name="Freeform 46"/>
            <p:cNvSpPr/>
            <p:nvPr/>
          </p:nvSpPr>
          <p:spPr>
            <a:xfrm>
              <a:off x="4572000" y="4000500"/>
              <a:ext cx="3048000" cy="1143000"/>
            </a:xfrm>
            <a:prstGeom prst="roundRect">
              <a:avLst>
                <a:gd name="adj" fmla="val 666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4946142" y="4188142"/>
              <a:ext cx="1728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3458B0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前端 Vue+TS</a:t>
              </a:r>
              <a:endParaRPr lang="zh-CN" sz="1350" b="1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9" name="Freeform 49"/>
            <p:cNvSpPr/>
            <p:nvPr/>
          </p:nvSpPr>
          <p:spPr>
            <a:xfrm>
              <a:off x="4946904" y="4490085"/>
              <a:ext cx="1905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15,</a:t>
              </a:r>
              <a:r>
                <a:rPr lang="en-US" alt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944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行 / </a:t>
              </a:r>
              <a:r>
                <a:rPr lang="en-US" alt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85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文件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1" name="Freeform 51"/>
            <p:cNvSpPr/>
            <p:nvPr/>
          </p:nvSpPr>
          <p:spPr>
            <a:xfrm>
              <a:off x="4946904" y="47282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3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59606E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web/src/ 组件</a:t>
              </a:r>
              <a:endPara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3" name="Freeform 53"/>
            <p:cNvSpPr/>
            <p:nvPr/>
          </p:nvSpPr>
          <p:spPr>
            <a:xfrm>
              <a:off x="7810500" y="4000500"/>
              <a:ext cx="3048000" cy="1143000"/>
            </a:xfrm>
            <a:prstGeom prst="roundRect">
              <a:avLst>
                <a:gd name="adj" fmla="val 666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8184642" y="4188142"/>
              <a:ext cx="1728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3458B0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项目周期</a:t>
              </a:r>
              <a:endParaRPr lang="zh-CN" sz="1350" b="1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6" name="Freeform 56"/>
            <p:cNvSpPr/>
            <p:nvPr/>
          </p:nvSpPr>
          <p:spPr>
            <a:xfrm>
              <a:off x="8185404" y="4490085"/>
              <a:ext cx="1428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54 活跃天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8" name="Freeform 58"/>
            <p:cNvSpPr/>
            <p:nvPr/>
          </p:nvSpPr>
          <p:spPr>
            <a:xfrm>
              <a:off x="8185404" y="4728210"/>
              <a:ext cx="1905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3" rIns="0" bIns="0" anchor="t" anchorCtr="0">
              <a:noAutofit/>
            </a:bodyPr>
            <a:lstStyle/>
            <a:p>
              <a:pPr algn="l"/>
              <a:r>
                <a:rPr lang="en-US" sz="1050" dirty="0">
                  <a:solidFill>
                    <a:srgbClr val="59606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2026-05-01 ~ 09-07</a:t>
              </a:r>
              <a:endParaRPr lang="en-US" sz="1050" dirty="0">
                <a:solidFill>
                  <a:srgbClr val="59606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fld id="{4AA35328-DC2B-43F3-AC02-5AC15E73F24F}" type="slidenum">
              <a:rPr lang="en-US" sz="1050" dirty="0">
                <a:solidFill>
                  <a:srgbClr val="DCE1E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lang="en-US" sz="1050" dirty="0">
              <a:solidFill>
                <a:srgbClr val="DCE1E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八</a:t>
            </a:r>
            <a:endParaRPr lang="zh-CN" sz="10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4762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alt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Salvo</a:t>
            </a:r>
            <a:r>
              <a:rPr lang="zh-CN" altLang="en-US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效率画像——</a:t>
            </a:r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Git 提交趋势（按天统计）</a:t>
            </a:r>
            <a:endParaRPr lang="zh-CN" sz="2700" b="1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95884" y="152400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7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总计 212 次提交 · 54 个活跃天（</a:t>
            </a:r>
            <a:r>
              <a:rPr lang="zh-CN" sz="1350" dirty="0">
                <a:solidFill>
                  <a:srgbClr val="008342"/>
                </a:solidFill>
                <a:latin typeface="Arial" panose="020B0604020202090204"/>
                <a:ea typeface="微软雅黑"/>
                <a:cs typeface="Arial" panose="020B0604020202090204"/>
              </a:rPr>
              <a:t>平均每天约</a:t>
            </a:r>
            <a:r>
              <a:rPr lang="en-US" altLang="zh-CN" sz="1350" dirty="0">
                <a:solidFill>
                  <a:srgbClr val="008342"/>
                </a:solidFill>
                <a:latin typeface="Arial" panose="020B0604020202090204"/>
                <a:ea typeface="微软雅黑"/>
                <a:cs typeface="Arial" panose="020B0604020202090204"/>
              </a:rPr>
              <a:t>1/4 ~ 1/3</a:t>
            </a:r>
            <a:r>
              <a:rPr lang="zh-CN" altLang="en-US" sz="1350" dirty="0">
                <a:solidFill>
                  <a:srgbClr val="008342"/>
                </a:solidFill>
                <a:latin typeface="Arial" panose="020B0604020202090204"/>
                <a:ea typeface="微软雅黑"/>
                <a:cs typeface="Arial" panose="020B0604020202090204"/>
              </a:rPr>
              <a:t>投入</a:t>
            </a:r>
            <a:r>
              <a:rPr lang="zh-CN" altLang="en-US" sz="13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）</a:t>
            </a:r>
            <a:r>
              <a:rPr lang="zh-CN" sz="13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 · bugfix 80 次（37.7%）</a:t>
            </a:r>
            <a:endParaRPr lang="zh-CN" sz="13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333500" y="5334000"/>
            <a:ext cx="9525000" cy="19050"/>
          </a:xfrm>
          <a:prstGeom prst="rect">
            <a:avLst/>
          </a:prstGeom>
          <a:solidFill>
            <a:srgbClr val="DCE1EA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1333500" y="3679508"/>
            <a:ext cx="148590" cy="1654492"/>
          </a:xfrm>
          <a:prstGeom prst="roundRect">
            <a:avLst>
              <a:gd name="adj" fmla="val 3000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1501140" y="2476500"/>
            <a:ext cx="148590" cy="2857500"/>
          </a:xfrm>
          <a:prstGeom prst="roundRect">
            <a:avLst>
              <a:gd name="adj" fmla="val 3000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1668780" y="3830002"/>
            <a:ext cx="148590" cy="1503998"/>
          </a:xfrm>
          <a:prstGeom prst="roundRect">
            <a:avLst>
              <a:gd name="adj" fmla="val 3000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183546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200310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217074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233838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250602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2672715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2840355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3007995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3175635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334232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3509962" y="4582478"/>
            <a:ext cx="148590" cy="751522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367760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3845242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4012882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4179570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4347210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4514850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4682490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4850130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5016818" y="3529012"/>
            <a:ext cx="148590" cy="1804988"/>
          </a:xfrm>
          <a:prstGeom prst="roundRect">
            <a:avLst>
              <a:gd name="adj" fmla="val 3000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36" name="Freeform 36"/>
          <p:cNvSpPr/>
          <p:nvPr/>
        </p:nvSpPr>
        <p:spPr>
          <a:xfrm>
            <a:off x="518445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535209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551973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5687378" y="4582478"/>
            <a:ext cx="148590" cy="751522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5854065" y="4130992"/>
            <a:ext cx="148590" cy="1203008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6021705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2" name="Freeform 42"/>
          <p:cNvSpPr/>
          <p:nvPr/>
        </p:nvSpPr>
        <p:spPr>
          <a:xfrm>
            <a:off x="6189345" y="3980498"/>
            <a:ext cx="148590" cy="1353502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6356985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4" name="Freeform 44"/>
          <p:cNvSpPr/>
          <p:nvPr/>
        </p:nvSpPr>
        <p:spPr>
          <a:xfrm>
            <a:off x="6523672" y="4431982"/>
            <a:ext cx="148590" cy="902018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5" name="Freeform 45"/>
          <p:cNvSpPr/>
          <p:nvPr/>
        </p:nvSpPr>
        <p:spPr>
          <a:xfrm>
            <a:off x="669131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6" name="Freeform 46"/>
          <p:cNvSpPr/>
          <p:nvPr/>
        </p:nvSpPr>
        <p:spPr>
          <a:xfrm>
            <a:off x="6858952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7" name="Freeform 47"/>
          <p:cNvSpPr/>
          <p:nvPr/>
        </p:nvSpPr>
        <p:spPr>
          <a:xfrm>
            <a:off x="702659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8" name="Freeform 48"/>
          <p:cNvSpPr/>
          <p:nvPr/>
        </p:nvSpPr>
        <p:spPr>
          <a:xfrm>
            <a:off x="719423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7360920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0" name="Freeform 50"/>
          <p:cNvSpPr/>
          <p:nvPr/>
        </p:nvSpPr>
        <p:spPr>
          <a:xfrm>
            <a:off x="7528560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1" name="Freeform 51"/>
          <p:cNvSpPr/>
          <p:nvPr/>
        </p:nvSpPr>
        <p:spPr>
          <a:xfrm>
            <a:off x="7696200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2" name="Freeform 52"/>
          <p:cNvSpPr/>
          <p:nvPr/>
        </p:nvSpPr>
        <p:spPr>
          <a:xfrm>
            <a:off x="7863840" y="4130992"/>
            <a:ext cx="148590" cy="1203008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3" name="Freeform 53"/>
          <p:cNvSpPr/>
          <p:nvPr/>
        </p:nvSpPr>
        <p:spPr>
          <a:xfrm>
            <a:off x="8031480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4" name="Freeform 54"/>
          <p:cNvSpPr/>
          <p:nvPr/>
        </p:nvSpPr>
        <p:spPr>
          <a:xfrm>
            <a:off x="819816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5" name="Freeform 55"/>
          <p:cNvSpPr/>
          <p:nvPr/>
        </p:nvSpPr>
        <p:spPr>
          <a:xfrm>
            <a:off x="836580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6" name="Freeform 56"/>
          <p:cNvSpPr/>
          <p:nvPr/>
        </p:nvSpPr>
        <p:spPr>
          <a:xfrm>
            <a:off x="853344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57" name="Freeform 57"/>
          <p:cNvSpPr/>
          <p:nvPr/>
        </p:nvSpPr>
        <p:spPr>
          <a:xfrm>
            <a:off x="8701088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58" name="Freeform 58"/>
          <p:cNvSpPr/>
          <p:nvPr/>
        </p:nvSpPr>
        <p:spPr>
          <a:xfrm>
            <a:off x="886872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59" name="Freeform 59"/>
          <p:cNvSpPr/>
          <p:nvPr/>
        </p:nvSpPr>
        <p:spPr>
          <a:xfrm>
            <a:off x="9035415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0" name="Freeform 60"/>
          <p:cNvSpPr/>
          <p:nvPr/>
        </p:nvSpPr>
        <p:spPr>
          <a:xfrm>
            <a:off x="9203055" y="4582478"/>
            <a:ext cx="148590" cy="751522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1" name="Freeform 61"/>
          <p:cNvSpPr/>
          <p:nvPr/>
        </p:nvSpPr>
        <p:spPr>
          <a:xfrm>
            <a:off x="9370695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2" name="Freeform 62"/>
          <p:cNvSpPr/>
          <p:nvPr/>
        </p:nvSpPr>
        <p:spPr>
          <a:xfrm>
            <a:off x="9538335" y="4281488"/>
            <a:ext cx="148590" cy="1052512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3" name="Freeform 63"/>
          <p:cNvSpPr/>
          <p:nvPr/>
        </p:nvSpPr>
        <p:spPr>
          <a:xfrm>
            <a:off x="9705022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4" name="Freeform 64"/>
          <p:cNvSpPr/>
          <p:nvPr/>
        </p:nvSpPr>
        <p:spPr>
          <a:xfrm>
            <a:off x="9872662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5" name="Freeform 65"/>
          <p:cNvSpPr/>
          <p:nvPr/>
        </p:nvSpPr>
        <p:spPr>
          <a:xfrm>
            <a:off x="10040302" y="4431982"/>
            <a:ext cx="148590" cy="902018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6" name="Freeform 66"/>
          <p:cNvSpPr/>
          <p:nvPr/>
        </p:nvSpPr>
        <p:spPr>
          <a:xfrm>
            <a:off x="10207942" y="4582478"/>
            <a:ext cx="148590" cy="751522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7" name="Freeform 67"/>
          <p:cNvSpPr/>
          <p:nvPr/>
        </p:nvSpPr>
        <p:spPr>
          <a:xfrm>
            <a:off x="10375582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8" name="Freeform 68"/>
          <p:cNvSpPr/>
          <p:nvPr/>
        </p:nvSpPr>
        <p:spPr>
          <a:xfrm>
            <a:off x="10542270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9" name="Freeform 69"/>
          <p:cNvSpPr/>
          <p:nvPr/>
        </p:nvSpPr>
        <p:spPr>
          <a:xfrm>
            <a:off x="10709910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70" name="Freeform 70"/>
          <p:cNvSpPr/>
          <p:nvPr/>
        </p:nvSpPr>
        <p:spPr>
          <a:xfrm>
            <a:off x="1217295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05月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2" name="Freeform 72"/>
          <p:cNvSpPr/>
          <p:nvPr/>
        </p:nvSpPr>
        <p:spPr>
          <a:xfrm>
            <a:off x="4398645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06月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4" name="Freeform 74"/>
          <p:cNvSpPr/>
          <p:nvPr/>
        </p:nvSpPr>
        <p:spPr>
          <a:xfrm>
            <a:off x="6073140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07月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8417242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08月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8" name="Freeform 78"/>
          <p:cNvSpPr/>
          <p:nvPr/>
        </p:nvSpPr>
        <p:spPr>
          <a:xfrm>
            <a:off x="9924098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09月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1095375" y="2190750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87630" bIns="0" anchor="t" anchorCtr="0">
            <a:noAutofit/>
          </a:bodyPr>
          <a:lstStyle/>
          <a:p>
            <a:pPr algn="ctr"/>
            <a:r>
              <a:rPr lang="zh-CN" sz="1200" b="1" dirty="0">
                <a:solidFill>
                  <a:srgbClr val="1A3D7A"/>
                </a:solidFill>
                <a:latin typeface="Arial" panose="020B0604020202090204"/>
                <a:ea typeface="微软雅黑"/>
                <a:cs typeface="Arial" panose="020B0604020202090204"/>
              </a:rPr>
              <a:t>19次 (5/2)</a:t>
            </a:r>
            <a:endParaRPr lang="zh-CN" sz="1200" b="1" dirty="0">
              <a:solidFill>
                <a:srgbClr val="1A3D7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82" name="Freeform 82"/>
          <p:cNvSpPr/>
          <p:nvPr/>
        </p:nvSpPr>
        <p:spPr>
          <a:xfrm>
            <a:off x="1333500" y="5905500"/>
            <a:ext cx="9525000" cy="381000"/>
          </a:xfrm>
          <a:prstGeom prst="roundRect">
            <a:avLst>
              <a:gd name="adj" fmla="val 12500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83" name="Freeform 83"/>
          <p:cNvSpPr/>
          <p:nvPr/>
        </p:nvSpPr>
        <p:spPr>
          <a:xfrm>
            <a:off x="1714500" y="6000750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ctr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2026-05-01 ~ 09-07 · 6-7月为开发高峰期 · 8-9月趋于稳定迭代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31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200342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8 个体验总结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1333500" y="1714500"/>
            <a:ext cx="9525000" cy="3619500"/>
            <a:chOff x="1333500" y="1714500"/>
            <a:chExt cx="9525000" cy="3619500"/>
          </a:xfrm>
        </p:grpSpPr>
        <p:sp>
          <p:nvSpPr>
            <p:cNvPr id="5" name="Rectangle 5"/>
            <p:cNvSpPr/>
            <p:nvPr/>
          </p:nvSpPr>
          <p:spPr>
            <a:xfrm>
              <a:off x="1333500" y="1714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705356" y="1853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83892" y="19021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定义问题比解决问题更重要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6286500" y="1714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58356" y="1853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6892" y="1902142"/>
              <a:ext cx="27790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知识沉淀：AI高效Coding的护城河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2667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05356" y="2806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83892" y="2854642"/>
              <a:ext cx="2958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流水线质量管控：对抗 "AI Slop"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2667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58356" y="2806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6892" y="28546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高标准审美，不仅仅是快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0" y="3619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05356" y="3758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83892" y="38071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懒是第一动力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86500" y="3619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8356" y="3758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6892" y="3807142"/>
              <a:ext cx="2730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评估与实现分离：不盲目相信 AI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333500" y="4572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05356" y="4711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83892" y="4759642"/>
              <a:ext cx="3719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时代的质量画像：知识库预防 + 测试覆盖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4572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58356" y="4711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36892" y="4759642"/>
              <a:ext cx="2772410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工程化流程：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CodeGraph + OpenSpec + 人工验证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760720" y="5836920"/>
            <a:ext cx="6705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谢谢</a:t>
            </a:r>
            <a:endParaRPr lang="zh-CN" sz="24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725668" y="6331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问答环节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ai-programming-practice">
  <a:themeElements>
    <a:clrScheme name="ai-programming-practice">
      <a:dk1>
        <a:srgbClr val="1A1D26"/>
      </a:dk1>
      <a:lt1>
        <a:srgbClr val="FFFFFF"/>
      </a:lt1>
      <a:dk2>
        <a:srgbClr val="1F497D"/>
      </a:dk2>
      <a:lt2>
        <a:srgbClr val="F4F6FA"/>
      </a:lt2>
      <a:accent1>
        <a:srgbClr val="3458B0"/>
      </a:accent1>
      <a:accent2>
        <a:srgbClr val="1F3A78"/>
      </a:accent2>
      <a:accent3>
        <a:srgbClr val="5B8DEF"/>
      </a:accent3>
      <a:accent4>
        <a:srgbClr val="3458B0"/>
      </a:accent4>
      <a:accent5>
        <a:srgbClr val="59606E"/>
      </a:accent5>
      <a:accent6>
        <a:srgbClr val="DCE1EA"/>
      </a:accent6>
      <a:hlink>
        <a:srgbClr val="1F3A78"/>
      </a:hlink>
      <a:folHlink>
        <a:srgbClr val="5B8DEF"/>
      </a:folHlink>
    </a:clrScheme>
    <a:fontScheme name="ai-programming-practic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programming-pract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5871</Words>
  <Application>WPS 演示</Application>
  <PresentationFormat>On-screen Show (16:9)</PresentationFormat>
  <Paragraphs>1199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1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宋体-简</vt:lpstr>
      <vt:lpstr>微软雅黑</vt:lpstr>
      <vt:lpstr>微软雅黑</vt:lpstr>
      <vt:lpstr>儷宋 Pro</vt:lpstr>
      <vt:lpstr>ai-programming-practice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WPS_1788569682</cp:lastModifiedBy>
  <cp:revision>65</cp:revision>
  <dcterms:created xsi:type="dcterms:W3CDTF">2026-09-08T03:25:39Z</dcterms:created>
  <dcterms:modified xsi:type="dcterms:W3CDTF">2026-09-08T03:25:39Z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A40D0D0131D7B8AF4D839E6A552E7DB4_42</vt:lpwstr>
  </property>
  <property fmtid="{D5CDD505-2E9C-101B-9397-08002B2CF9AE}" pid="3" name="KSOProductBuildVer">
    <vt:lpwstr>2052-12.1.25898.25898</vt:lpwstr>
  </property>
</Properties>
</file>