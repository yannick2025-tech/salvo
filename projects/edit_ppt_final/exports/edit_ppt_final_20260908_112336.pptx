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autoCompressPictures="0">
  <p:sldMasterIdLst>
    <p:sldMasterId id="2147483648" r:id="rId1"/>
  </p:sldMasterIdLst>
  <p:notesMasterIdLst>
    <p:notesMasterId r:id="rId10"/>
  </p:notesMasterIdLst>
  <p:handoutMasterIdLst>
    <p:handoutMasterId r:id="rId38"/>
  </p:handoutMasterIdLst>
  <p:sldIdLst>
    <p:sldId id="256" r:id="rId42"/>
    <p:sldId id="257" r:id="rId43"/>
    <p:sldId id="258" r:id="rId44"/>
    <p:sldId id="259" r:id="rId45"/>
    <p:sldId id="260" r:id="rId46"/>
    <p:sldId id="261" r:id="rId47"/>
    <p:sldId id="262" r:id="rId48"/>
    <p:sldId id="263" r:id="rId49"/>
    <p:sldId id="264" r:id="rId50"/>
    <p:sldId id="265" r:id="rId51"/>
    <p:sldId id="266" r:id="rId52"/>
    <p:sldId id="267" r:id="rId53"/>
    <p:sldId id="268" r:id="rId54"/>
    <p:sldId id="269" r:id="rId55"/>
    <p:sldId id="270" r:id="rId56"/>
    <p:sldId id="271" r:id="rId57"/>
    <p:sldId id="272" r:id="rId58"/>
    <p:sldId id="273" r:id="rId59"/>
    <p:sldId id="274" r:id="rId60"/>
    <p:sldId id="275" r:id="rId61"/>
    <p:sldId id="276" r:id="rId62"/>
    <p:sldId id="277" r:id="rId63"/>
    <p:sldId id="278" r:id="rId64"/>
    <p:sldId id="279" r:id="rId65"/>
    <p:sldId id="280" r:id="rId66"/>
    <p:sldId id="281" r:id="rId67"/>
    <p:sldId id="282" r:id="rId68"/>
    <p:sldId id="283" r:id="rId69"/>
    <p:sldId id="284" r:id="rId70"/>
    <p:sldId id="285" r:id="rId71"/>
    <p:sldId id="286" r:id="rId72"/>
    <p:sldId id="287" r:id="rId73"/>
    <p:sldId id="288" r:id="rId74"/>
    <p:sldId id="289" r:id="rId75"/>
    <p:sldId id="290" r:id="rId7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58B0"/>
    <a:srgbClr val="FFFFFF"/>
    <a:srgbClr val="F4F6FA"/>
    <a:srgbClr val="008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41" Type="http://schemas.openxmlformats.org/officeDocument/2006/relationships/tableStyles" Target="tableStyles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38" Type="http://schemas.openxmlformats.org/officeDocument/2006/relationships/handoutMaster" Target="handoutMasters/handoutMaster1.xml" /><Relationship Id="rId2" Type="http://schemas.openxmlformats.org/officeDocument/2006/relationships/theme" Target="theme/theme1.xml" /><Relationship Id="rId1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42" Type="http://schemas.openxmlformats.org/officeDocument/2006/relationships/slide" Target="slides/slide1.xml" /><Relationship Id="rId43" Type="http://schemas.openxmlformats.org/officeDocument/2006/relationships/slide" Target="slides/slide2.xml" /><Relationship Id="rId44" Type="http://schemas.openxmlformats.org/officeDocument/2006/relationships/slide" Target="slides/slide3.xml" /><Relationship Id="rId45" Type="http://schemas.openxmlformats.org/officeDocument/2006/relationships/slide" Target="slides/slide4.xml" /><Relationship Id="rId46" Type="http://schemas.openxmlformats.org/officeDocument/2006/relationships/slide" Target="slides/slide5.xml" /><Relationship Id="rId47" Type="http://schemas.openxmlformats.org/officeDocument/2006/relationships/slide" Target="slides/slide6.xml" /><Relationship Id="rId48" Type="http://schemas.openxmlformats.org/officeDocument/2006/relationships/slide" Target="slides/slide7.xml" /><Relationship Id="rId49" Type="http://schemas.openxmlformats.org/officeDocument/2006/relationships/slide" Target="slides/slide8.xml" /><Relationship Id="rId50" Type="http://schemas.openxmlformats.org/officeDocument/2006/relationships/slide" Target="slides/slide9.xml" /><Relationship Id="rId51" Type="http://schemas.openxmlformats.org/officeDocument/2006/relationships/slide" Target="slides/slide10.xml" /><Relationship Id="rId52" Type="http://schemas.openxmlformats.org/officeDocument/2006/relationships/slide" Target="slides/slide11.xml" /><Relationship Id="rId53" Type="http://schemas.openxmlformats.org/officeDocument/2006/relationships/slide" Target="slides/slide12.xml" /><Relationship Id="rId54" Type="http://schemas.openxmlformats.org/officeDocument/2006/relationships/slide" Target="slides/slide13.xml" /><Relationship Id="rId55" Type="http://schemas.openxmlformats.org/officeDocument/2006/relationships/slide" Target="slides/slide14.xml" /><Relationship Id="rId56" Type="http://schemas.openxmlformats.org/officeDocument/2006/relationships/slide" Target="slides/slide15.xml" /><Relationship Id="rId57" Type="http://schemas.openxmlformats.org/officeDocument/2006/relationships/slide" Target="slides/slide16.xml" /><Relationship Id="rId58" Type="http://schemas.openxmlformats.org/officeDocument/2006/relationships/slide" Target="slides/slide17.xml" /><Relationship Id="rId59" Type="http://schemas.openxmlformats.org/officeDocument/2006/relationships/slide" Target="slides/slide18.xml" /><Relationship Id="rId60" Type="http://schemas.openxmlformats.org/officeDocument/2006/relationships/slide" Target="slides/slide19.xml" /><Relationship Id="rId61" Type="http://schemas.openxmlformats.org/officeDocument/2006/relationships/slide" Target="slides/slide20.xml" /><Relationship Id="rId62" Type="http://schemas.openxmlformats.org/officeDocument/2006/relationships/slide" Target="slides/slide21.xml" /><Relationship Id="rId63" Type="http://schemas.openxmlformats.org/officeDocument/2006/relationships/slide" Target="slides/slide22.xml" /><Relationship Id="rId64" Type="http://schemas.openxmlformats.org/officeDocument/2006/relationships/slide" Target="slides/slide23.xml" /><Relationship Id="rId65" Type="http://schemas.openxmlformats.org/officeDocument/2006/relationships/slide" Target="slides/slide24.xml" /><Relationship Id="rId66" Type="http://schemas.openxmlformats.org/officeDocument/2006/relationships/slide" Target="slides/slide25.xml" /><Relationship Id="rId67" Type="http://schemas.openxmlformats.org/officeDocument/2006/relationships/slide" Target="slides/slide26.xml" /><Relationship Id="rId68" Type="http://schemas.openxmlformats.org/officeDocument/2006/relationships/slide" Target="slides/slide27.xml" /><Relationship Id="rId69" Type="http://schemas.openxmlformats.org/officeDocument/2006/relationships/slide" Target="slides/slide28.xml" /><Relationship Id="rId70" Type="http://schemas.openxmlformats.org/officeDocument/2006/relationships/slide" Target="slides/slide29.xml" /><Relationship Id="rId71" Type="http://schemas.openxmlformats.org/officeDocument/2006/relationships/slide" Target="slides/slide30.xml" /><Relationship Id="rId72" Type="http://schemas.openxmlformats.org/officeDocument/2006/relationships/slide" Target="slides/slide31.xml" /><Relationship Id="rId73" Type="http://schemas.openxmlformats.org/officeDocument/2006/relationships/slide" Target="slides/slide32.xml" /><Relationship Id="rId74" Type="http://schemas.openxmlformats.org/officeDocument/2006/relationships/slide" Target="slides/slide33.xml" /><Relationship Id="rId75" Type="http://schemas.openxmlformats.org/officeDocument/2006/relationships/slide" Target="slides/slide34.xml" /><Relationship Id="rId76" Type="http://schemas.openxmlformats.org/officeDocument/2006/relationships/slide" Target="slides/slide35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7.xml" /></Relationships>
</file>

<file path=ppt/notesSlides/_rels/notesSlide2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9.xml" /></Relationships>
</file>

<file path=ppt/notesSlides/_rels/notesSlide3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10.xml" /></Relationships>
</file>

<file path=ppt/notesSlides/_rels/notesSlide4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15.xml" /></Relationships>
</file>

<file path=ppt/notesSlides/_rels/notesSlide5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17.xml" /></Relationships>
</file>

<file path=ppt/notesSlides/_rels/notesSlide6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20.xml" /></Relationships>
</file>

<file path=ppt/notesSlides/_rels/notesSlide7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23.xml" /></Relationships>
</file>

<file path=ppt/notesSlides/_rels/notesSlide8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0.xml" /></Relationships>
</file>

<file path=ppt/notesSlides/_rels/notesSlide9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3.xml" /></Relationships>
</file>

<file path=ppt/notesSlides/_rels/notesSlide10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4.xml" /></Relationships>
</file>

<file path=ppt/notesSlides/_rels/notesSlide11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5.xml" />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可展示一个充电</a:t>
            </a:r>
            <a:r>
              <a:rPr lang="en-US" altLang="zh-CN"/>
              <a:t>YAML</a:t>
            </a:r>
            <a:r>
              <a:rPr lang="zh-CN" altLang="en-US"/>
              <a:t>配置</a:t>
            </a:r>
            <a:endParaRPr lang="zh-CN" altLang="en-US"/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参考：</a:t>
            </a:r>
            <a:r>
              <a:rPr lang="en-US" altLang="zh-CN">
                <a:sym typeface="+mn-ea"/>
              </a:rPr>
              <a:t>https://juejin.cn/post/7643280009974759433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这一页放到质量中</a:t>
            </a:r>
            <a:r>
              <a:rPr lang="zh-CN" altLang="en-US"/>
              <a:t>去</a:t>
            </a:r>
            <a:endParaRPr lang="zh-CN" altLang="en-US"/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programming-pract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1.xml" /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2" Type="http://schemas.openxmlformats.org/officeDocument/2006/relationships/notesSlide" Target="../notesSlides/notesSlide2_tf1.xml" /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2" Type="http://schemas.openxmlformats.org/officeDocument/2006/relationships/notesSlide" Target="../notesSlides/notesSlide3_tf1.xml" /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notesSlide" Target="../notesSlides/notesSlide4_tf1.xml" /><Relationship Id="rId1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'1.0' encoding='utf-8'?>
<Relationships xmlns="http://schemas.openxmlformats.org/package/2006/relationships"><Relationship Id="rId2" Type="http://schemas.openxmlformats.org/officeDocument/2006/relationships/notesSlide" Target="../notesSlides/notesSlide5_tf1.xml" /><Relationship Id="rId1" Type="http://schemas.openxmlformats.org/officeDocument/2006/relationships/slideLayout" Target="../slideLayouts/slideLayout1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notesSlide" Target="../notesSlides/notesSlide6_tf1.xml" /><Relationship Id="rId1" Type="http://schemas.openxmlformats.org/officeDocument/2006/relationships/slideLayout" Target="../slideLayouts/slideLayout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'1.0' encoding='utf-8'?>
<Relationships xmlns="http://schemas.openxmlformats.org/package/2006/relationships"><Relationship Id="rId2" Type="http://schemas.openxmlformats.org/officeDocument/2006/relationships/notesSlide" Target="../notesSlides/notesSlide7_tf1.xml" /><Relationship Id="rId1" Type="http://schemas.openxmlformats.org/officeDocument/2006/relationships/slideLayout" Target="../slideLayouts/slideLayout1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'1.0' encoding='utf-8'?>
<Relationships xmlns="http://schemas.openxmlformats.org/package/2006/relationships"><Relationship Id="rId2" Type="http://schemas.openxmlformats.org/officeDocument/2006/relationships/notesSlide" Target="../notesSlides/notesSlide8_tf1.xml" /><Relationship Id="rId1" Type="http://schemas.openxmlformats.org/officeDocument/2006/relationships/slideLayout" Target="../slideLayouts/slideLayout1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<?xml version='1.0' encoding='utf-8'?>
<Relationships xmlns="http://schemas.openxmlformats.org/package/2006/relationships"><Relationship Id="rId2" Type="http://schemas.openxmlformats.org/officeDocument/2006/relationships/notesSlide" Target="../notesSlides/notesSlide9_tf1.xml" /><Relationship Id="rId1" Type="http://schemas.openxmlformats.org/officeDocument/2006/relationships/slideLayout" Target="../slideLayouts/slideLayout1.xml" /></Relationships>
</file>

<file path=ppt/slides/_rels/slide34.xml.rels><?xml version='1.0' encoding='utf-8'?>
<Relationships xmlns="http://schemas.openxmlformats.org/package/2006/relationships"><Relationship Id="rId2" Type="http://schemas.openxmlformats.org/officeDocument/2006/relationships/notesSlide" Target="../notesSlides/notesSlide10_tf1.xml" /><Relationship Id="rId1" Type="http://schemas.openxmlformats.org/officeDocument/2006/relationships/slideLayout" Target="../slideLayouts/slideLayout1.xml" /></Relationships>
</file>

<file path=ppt/slides/_rels/slide35.xml.rels><?xml version='1.0' encoding='utf-8'?>
<Relationships xmlns="http://schemas.openxmlformats.org/package/2006/relationships"><Relationship Id="rId2" Type="http://schemas.openxmlformats.org/officeDocument/2006/relationships/notesSlide" Target="../notesSlides/notesSlide11_tf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3027929" y="2213610"/>
            <a:ext cx="6136142" cy="2420620"/>
            <a:chOff x="3027929" y="2213610"/>
            <a:chExt cx="6136142" cy="2420620"/>
          </a:xfrm>
        </p:grpSpPr>
        <p:sp>
          <p:nvSpPr>
            <p:cNvPr id="2" name="TextBox 2"/>
            <p:cNvSpPr txBox="1"/>
            <p:nvPr/>
          </p:nvSpPr>
          <p:spPr>
            <a:xfrm>
              <a:off x="3027929" y="2213610"/>
              <a:ext cx="6136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时代的编程平权实践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027170" y="30441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从不会写代码到独立开发性能测试平台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82161" y="3425190"/>
              <a:ext cx="30276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时代的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质量管控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4000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25409" y="4426585"/>
              <a:ext cx="73152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技术分享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7543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背景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609600" y="1524000"/>
            <a:ext cx="10972800" cy="2857500"/>
            <a:chOff x="609600" y="1524000"/>
            <a:chExt cx="10972800" cy="285750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72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1977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测试和流程优化经理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27660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不是专职开发，</a:t>
              </a:r>
              <a:r>
                <a:rPr 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前端代码</a:t>
              </a:r>
              <a:r>
                <a:rPr lang="en-US" alt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altLang="en-US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基础</a:t>
              </a:r>
              <a:endParaRPr lang="zh-CN" altLang="en-US" sz="140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727960"/>
              <a:ext cx="2585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借助 AI 能力，从 0 到 1 构建 Salvo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389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60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项目规模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1498" y="1907858"/>
              <a:ext cx="1368425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~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万行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2483168"/>
              <a:ext cx="233489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 4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.33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万</a:t>
              </a:r>
              <a:r>
                <a:rPr lang="en-US" altLang="zh-CN" sz="135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 + 前端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1.59W</a:t>
              </a:r>
              <a:r>
                <a:rPr lang="en-US" altLang="zh-CN" sz="135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619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9354" y="3758565"/>
              <a:ext cx="48133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今天分享的不是技术细节，而是</a:t>
              </a:r>
              <a:r>
                <a:rPr lang="en-US" alt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alt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全栈编程</a:t>
              </a:r>
              <a:r>
                <a:rPr lang="zh-CN" alt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体验</a:t>
              </a:r>
              <a:endParaRPr lang="zh-CN" alt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4829" y="4109085"/>
              <a:ext cx="2282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个可复用的 AI 编程实践方法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37614" y="2136458"/>
            <a:ext cx="4516755" cy="1270952"/>
            <a:chOff x="3837614" y="2136458"/>
            <a:chExt cx="4516755" cy="1270952"/>
          </a:xfrm>
        </p:grpSpPr>
        <p:sp>
          <p:nvSpPr>
            <p:cNvPr id="5" name="TextBox 5"/>
            <p:cNvSpPr txBox="1"/>
            <p:nvPr/>
          </p:nvSpPr>
          <p:spPr>
            <a:xfrm>
              <a:off x="4230647" y="2136458"/>
              <a:ext cx="37307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拉平了技术 GAP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37614" y="2853690"/>
              <a:ext cx="4516755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问题不再是"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能不能实现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而是"</a:t>
              </a:r>
              <a:r>
                <a:rPr lang="zh-CN" sz="1800" b="1" dirty="0">
                  <a:solidFill>
                    <a:srgbClr val="008342"/>
                  </a:solidFill>
                  <a:latin typeface="+mn-lt"/>
                  <a:ea typeface="+mn-ea"/>
                  <a:cs typeface="+mn-cs"/>
                </a:rPr>
                <a:t>是否定义清楚问题，是否能管控住质量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3735" y="4000500"/>
            <a:ext cx="8966302" cy="1152906"/>
            <a:chOff x="1843735" y="4000500"/>
            <a:chExt cx="8966302" cy="1152906"/>
          </a:xfrm>
        </p:grpSpPr>
        <p:sp>
          <p:nvSpPr>
            <p:cNvPr id="8" name="Rectangle 8"/>
            <p:cNvSpPr/>
            <p:nvPr/>
          </p:nvSpPr>
          <p:spPr>
            <a:xfrm>
              <a:off x="2286000" y="4000500"/>
              <a:ext cx="76200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34608" y="4200525"/>
              <a:ext cx="2122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接下来分享 8 点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实践体验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843735" y="4918710"/>
              <a:ext cx="8966302" cy="234696"/>
              <a:chOff x="1843735" y="4918710"/>
              <a:chExt cx="8966302" cy="23469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843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 定义问题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986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 知识沉淀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48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 流水线管控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91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 高标准审美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54191" y="4918710"/>
                <a:ext cx="1207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 懒是第一动力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58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06 评估分离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01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07 质量画像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63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08 工程化流程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3136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为什么要做 Salvo？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094900" y="2326958"/>
            <a:ext cx="4002200" cy="2376487"/>
            <a:chOff x="4094900" y="2326958"/>
            <a:chExt cx="4002200" cy="2376487"/>
          </a:xfrm>
        </p:grpSpPr>
        <p:sp>
          <p:nvSpPr>
            <p:cNvPr id="7" name="TextBox 7"/>
            <p:cNvSpPr txBox="1"/>
            <p:nvPr/>
          </p:nvSpPr>
          <p:spPr>
            <a:xfrm>
              <a:off x="4094900" y="2326958"/>
              <a:ext cx="40022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性能工具 1.0 的困境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66502" y="304419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大痛点驱动我们重新思考性能测试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4438" y="3611880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↓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2940" y="4410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定义清楚问题，才能找到正确的解法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4225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 大痛点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" y="1619250"/>
            <a:ext cx="10972800" cy="381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46860" y="1737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痛点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3220" y="1737360"/>
            <a:ext cx="79756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Snailx</a:t>
            </a:r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问题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90000" y="1737360"/>
            <a:ext cx="11459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Salvo 解决方案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09600" y="2000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3300" y="22355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场景不通用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94125" y="2251710"/>
            <a:ext cx="19557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测试场景内置在 Go 代码中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73035" y="2251710"/>
            <a:ext cx="2179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YAML 配置驱动，零代码适配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09600" y="2667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53300" y="2902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资源消耗高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50235" y="2918460"/>
            <a:ext cx="28435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万协程，4C8G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执行机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频繁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被打爆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684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按需调度，精确控制并发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609600" y="33337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53300" y="3569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扩展成本高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23883" y="3585210"/>
            <a:ext cx="28962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新增业务改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20+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结构体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185099" y="3585210"/>
            <a:ext cx="1155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只改一个 YAML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09600" y="40005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44168" y="423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无法停止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00500" y="4251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一旦运行不能停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13183" y="4251960"/>
            <a:ext cx="46996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按次数 / 时长两种模式，随时停止，所有子携程自动取消，报告不</a:t>
            </a:r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中断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09600" y="4667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0118" y="4902518"/>
            <a:ext cx="154876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报告分散，工作量</a:t>
            </a:r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065145" y="4918710"/>
            <a:ext cx="30137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AWK + EXCEL + Prometheus（报告约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周）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74928" y="4918710"/>
            <a:ext cx="2176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自动生成 HTML 报告（分钟级）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09600" y="5334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44168" y="5569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并发崩溃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62400" y="5585460"/>
            <a:ext cx="1219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多次出现并发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问题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91500" y="5585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完善的并发控制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关键洞察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286000" y="2476500"/>
            <a:ext cx="7620000" cy="1714500"/>
            <a:chOff x="2286000" y="2476500"/>
            <a:chExt cx="7620000" cy="1714500"/>
          </a:xfrm>
        </p:grpSpPr>
        <p:sp>
          <p:nvSpPr>
            <p:cNvPr id="7" name="Rectangle 7"/>
            <p:cNvSpPr/>
            <p:nvPr/>
          </p:nvSpPr>
          <p:spPr>
            <a:xfrm>
              <a:off x="2286000" y="2476500"/>
              <a:ext cx="7620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5680" y="27079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5430" y="34251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先把需求定义清楚，AI 帮你实现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前后对比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333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012724" y="2124075"/>
            <a:ext cx="832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1.0 时代</a:t>
            </a:r>
            <a:endParaRPr lang="zh-CN" sz="15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476500" y="2476500"/>
            <a:ext cx="1905000" cy="19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58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6080" y="2914650"/>
            <a:ext cx="100584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周级</a:t>
            </a:r>
            <a:endParaRPr lang="zh-CN" sz="36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62555" y="3489960"/>
            <a:ext cx="15328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60+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19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几千行代码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99252" y="2910840"/>
            <a:ext cx="39349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→</a:t>
            </a:r>
            <a:endParaRPr lang="zh-CN" sz="48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667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50966" y="2124075"/>
            <a:ext cx="10240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Salvo 时代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7810500" y="247650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92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7764" y="2914650"/>
            <a:ext cx="149047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分钟级</a:t>
            </a:r>
            <a:endParaRPr lang="zh-CN" sz="36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61531" y="3489960"/>
            <a:ext cx="320294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只改一个 YAML，</a:t>
            </a:r>
            <a:r>
              <a:rPr 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借助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蒸馏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，实现分钟级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效率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53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零代码适配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理论基础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974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腾讯 AI Team 的实践启示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1333500" y="2095500"/>
            <a:ext cx="9525000" cy="11430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333500" y="20955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356" y="2282190"/>
            <a:ext cx="4888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"工作流只是管道，知识才是流过管道的活水"</a:t>
            </a:r>
            <a:endParaRPr lang="zh-CN" sz="18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8404" y="2727960"/>
            <a:ext cx="1125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腾讯 AI Team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3619500"/>
            <a:ext cx="9525000" cy="1524000"/>
            <a:chOff x="1333500" y="3619500"/>
            <a:chExt cx="95250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82786" y="3854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306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可替换的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5978" y="4553902"/>
              <a:ext cx="139255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今天状态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机，明天 DAG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7405" y="3854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681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可累积的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4587" y="4553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跨项目、跨时间复用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9418" y="3854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复利资产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7478" y="4251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团队的知识护城河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29688" y="4553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越积累越有价值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3267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 层知识库结构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2286000" y="2095500"/>
            <a:ext cx="7620000" cy="3619500"/>
            <a:chOff x="2286000" y="2095500"/>
            <a:chExt cx="7620000" cy="3619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314575"/>
              <a:ext cx="160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L1-conventions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66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团队约定（强约束）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4926" y="2410778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coding-style.md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86000" y="3048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59380" y="3267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L2-business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1666" y="35537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业务知识（领域模型）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0642" y="3363278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domain-models.md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4000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59380" y="4219575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L3-project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1666" y="4506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项目知识（已知陷阱）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1236" y="43157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pitfalls.md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86000" y="4953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9380" y="5172075"/>
              <a:ext cx="1454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L4-workflows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1666" y="5458778"/>
              <a:ext cx="1033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工作流（SOP）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6589" y="5268278"/>
              <a:ext cx="1692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codegraph-workflow.md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6863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Lessons Learned 沉淀机制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0768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 个详细案例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609600" y="1905000"/>
            <a:ext cx="10972800" cy="4000500"/>
            <a:chOff x="609600" y="1905000"/>
            <a:chExt cx="10972800" cy="4000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8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1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前端首屏性能优化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485549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轮排查迭代，时间戳日志定位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5259" y="2315528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10s → 116ms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621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2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14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链路跟踪色块溢出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547" y="248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可视化调试：全局边框扫描 + 祖先链追踪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4924" y="231552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2h → 5min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8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3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299460"/>
              <a:ext cx="1515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Goroutine 吞没错误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247" y="3533299"/>
              <a:ext cx="2008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safeGo + atomic.Value 错误传播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1230" y="336327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静默 → 可观测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21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4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3299460"/>
              <a:ext cx="1424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AND-join 阻塞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3533299"/>
              <a:ext cx="106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OR-join 语义设计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9860" y="3363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分支正常汇合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8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5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347210"/>
              <a:ext cx="9258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布局重叠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247" y="4581049"/>
              <a:ext cx="1815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替换为 ELK（支持变长节点）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32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一键美化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389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21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6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4347210"/>
              <a:ext cx="1275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推送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547" y="4581049"/>
              <a:ext cx="262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ReadPump/WritePump 分离 + channel 管理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925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稳定实时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8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7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104" y="5394960"/>
              <a:ext cx="1694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1.26.2 运行时 bug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247" y="5628799"/>
              <a:ext cx="1790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堆栈分析区分应用/运行时 bug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9209" y="5458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识别标准库问题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621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8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5394960"/>
              <a:ext cx="1268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多字段 AND 查询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2547" y="5628799"/>
              <a:ext cx="2161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双套实现：Vue computed + 原生 JS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51211" y="54587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前后端一致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效果对比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1333500" y="2095500"/>
            <a:ext cx="9525000" cy="2857500"/>
            <a:chOff x="1333500" y="2095500"/>
            <a:chExt cx="9525000" cy="2857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8404" y="2346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知识库总计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6212" y="2468880"/>
              <a:ext cx="17933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1660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3029902"/>
              <a:ext cx="1063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L1-L4 四层知识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829" y="24707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7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095500"/>
              <a:ext cx="4191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42404" y="234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按需加载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0212" y="2468880"/>
              <a:ext cx="2353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75~261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3166" y="302990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最多节省 85% 上下文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2380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753" y="4394835"/>
              <a:ext cx="1314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Lessons Learned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7659" y="4657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每个包含完整排查过程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6725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755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6044" y="4394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成熟度标签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2990" y="465724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draft → verified → proven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1081" y="3899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↑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28100" y="4394835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准确性大幅提升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9014" y="4657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避免重复踩坑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31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三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AI 辅助开发完整工作流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84985" y="2647950"/>
              <a:ext cx="1002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需求澄清</a:t>
              </a:r>
              <a:endParaRPr lang="zh-CN" sz="135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07464" y="2982278"/>
              <a:ext cx="957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brainstorming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52016" y="3172778"/>
              <a:ext cx="126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多方案→确认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435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2672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en-US" sz="1350" b="1" dirty="0">
                  <a:solidFill>
                    <a:srgbClr val="1A1D2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OpenSpec</a:t>
              </a:r>
              <a:endParaRPr lang="en-US" sz="1350" b="1" dirty="0">
                <a:solidFill>
                  <a:srgbClr val="1A1D2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propose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319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提案→审查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123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437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TDD 实现</a:t>
              </a:r>
              <a:endParaRPr lang="zh-CN" sz="135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580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codegraph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7955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红→绿→重构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388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2495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自检→提交</a:t>
              </a:r>
              <a:endParaRPr lang="zh-CN" sz="13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3345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checklist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272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sync→git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45" name="Freeform 45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708404" y="4394835"/>
              <a:ext cx="857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每个阶段由人工或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project rules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约束：brainstorming→tdd-strategy→codegraph→checklist→git-commit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708404" y="5156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人工确认节点：方案确认→提案审查→测试验证→文档评估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  <a:sym typeface="+mn-ea"/>
                </a:rPr>
                <a:t>→知识库更新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→Git提交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708404" y="5918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AI 负责评估和生成，人负责确认和提交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5802630" y="5110480"/>
            <a:ext cx="808990" cy="283845"/>
          </a:xfrm>
          <a:prstGeom prst="rect">
            <a:avLst/>
          </a:prstGeom>
          <a:noFill/>
          <a:ln w="12700" cap="flat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88471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CodeGraph：代码理解与同步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395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知道"我在改什么"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理解代码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918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结构和依赖关系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4438" y="2516505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2095500"/>
              <a:ext cx="4191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1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2404" y="26327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sync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24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同步更新索引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8404" y="4394835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避免 AI 幻觉导致的代码理解偏差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08404" y="51568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确保修改时知道影响范围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08404" y="5918835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维护代码库的完整性和一致性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56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OpenSpec：需求与变更管理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2315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知道"我为什么要改"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3500" y="2095500"/>
            <a:ext cx="9525000" cy="1905000"/>
            <a:chOff x="1333500" y="2095500"/>
            <a:chExt cx="9525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Feature 开发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必须走 openspec 流程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需求分析 → 设计文档 → 实现 → 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确保每个功能都有完整的设计文档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609499"/>
              <a:ext cx="1605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60642" y="2283142"/>
              <a:ext cx="104965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中大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型Bugfix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632710"/>
              <a:ext cx="2750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涉及核心逻辑的 bug 也要走 openspec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问题分析 → 修复方案 → 实现 → 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32680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避免"头痛医头"导致的连锁问题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254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572000"/>
            <a:ext cx="9525000" cy="1143000"/>
            <a:chOff x="1333500" y="4572000"/>
            <a:chExt cx="9525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3335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330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规范流程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1228" y="5077778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286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减少盲目修改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6681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决策记录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54587" y="50777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661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005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知识沉淀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0363" y="5077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1038" y="5363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和知识沉淀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3891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流程控制的价值与测试验证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CodeGraph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6327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知道"我在改什么"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298227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0642" y="22831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OpenSpec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983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知道"我为什么要改"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2982278"/>
              <a:ext cx="1720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166" y="3268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8" name="Rectangle 18"/>
          <p:cNvSpPr/>
          <p:nvPr/>
        </p:nvSpPr>
        <p:spPr>
          <a:xfrm>
            <a:off x="1333500" y="3973195"/>
            <a:ext cx="9525000" cy="762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147887" y="4267200"/>
            <a:ext cx="78962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458B0"/>
                </a:solidFill>
                <a:latin typeface="+mn-lt"/>
                <a:ea typeface="+mn-ea"/>
                <a:cs typeface="+mn-cs"/>
              </a:rPr>
              <a:t>结合效果：减少 AI 的盲目修改 · 提高代码变更的可追溯性 · 形成完整的工程化闭环</a:t>
            </a:r>
            <a:endParaRPr lang="zh-CN" sz="1500" b="1" dirty="0">
              <a:solidFill>
                <a:srgbClr val="3458B0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5334000"/>
            <a:ext cx="9525000" cy="952500"/>
            <a:chOff x="1333500" y="5334000"/>
            <a:chExt cx="9525000" cy="952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5334000"/>
              <a:ext cx="952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7642" y="5521642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测试验证：代码完成 ≠ 功能完成</a:t>
              </a:r>
              <a:endParaRPr lang="zh-CN" sz="1350" b="1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8404" y="5823585"/>
              <a:ext cx="31578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UT 只是起点：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个测试文件保证代码基本能力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6061710"/>
              <a:ext cx="35102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人工测试不可少：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每次代码更新都进行大量人工测试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9585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流水线质量管控：对抗 "AI Slop"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03446" y="24726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生成速度快，但信息密度低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1452" y="2886075"/>
              <a:ext cx="2869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容易产生 "AI Slop"（AI 垃圾）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Rectangle 12"/>
          <p:cNvSpPr/>
          <p:nvPr/>
        </p:nvSpPr>
        <p:spPr>
          <a:xfrm>
            <a:off x="2286000" y="3810000"/>
            <a:ext cx="7620000" cy="7620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chemeClr val="accent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286000" y="381000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660904" y="3966210"/>
            <a:ext cx="4492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"AI 产出速度越快，代码库越容易漂移，需要持续垃圾回收"</a:t>
            </a:r>
            <a:endParaRPr lang="zh-CN" sz="12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61666" y="4268152"/>
            <a:ext cx="94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OpenAI 实践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2286000" y="4953000"/>
            <a:ext cx="7620000" cy="9525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32960" y="5139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解决方案：流水线质量管控</a:t>
            </a:r>
            <a:endParaRPr lang="zh-CN" sz="18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485007" y="5537835"/>
            <a:ext cx="5221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上游输出是下游输入，每个环节都要 review，确保每阶段产出 90 分以上</a:t>
            </a:r>
            <a:endParaRPr lang="zh-CN" sz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8448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流水线模型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7" name="Rectangle 7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5485" y="26479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7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2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5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52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23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294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50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5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88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05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7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1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08404" y="439483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上游输出是下游输入，信息多层传输容易丢失、错乱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3458B0"/>
            </a:solidFill>
            <a:ln w="9525" cap="flat" cmpd="sng">
              <a:solidFill>
                <a:schemeClr val="accent1"/>
              </a:solidFill>
              <a:prstDash val="solid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08404" y="5156835"/>
              <a:ext cx="372173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每个环节必须代入具体角色 review，不能"差不多就行"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08404" y="5918835"/>
              <a:ext cx="25971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关注信息密度，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不追求文档数量、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篇幅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3499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引擎案例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 个环节的 review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609600" y="1905000"/>
            <a:ext cx="10972800" cy="3524250"/>
            <a:chOff x="609600" y="1905000"/>
            <a:chExt cx="10972800" cy="352425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5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89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3782" y="2080260"/>
              <a:ext cx="93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重点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2607" y="2080260"/>
              <a:ext cx="1099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产出（≥90分）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381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2664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09088" y="2680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2844" y="2601278"/>
              <a:ext cx="899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DAG 数据结构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4464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执行模型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1772" y="2680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架构设计文档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143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4905" y="3426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8316" y="3442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产品经理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1087" y="3363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节点类型、用户体验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4464" y="3601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配置方式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1772" y="3442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产品需求文档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3905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905" y="4188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47544" y="4204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1087" y="4125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拓扑排序、条件分支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2438" y="4363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循环、并发控制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2530" y="4204335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dag.go, executor.go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667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4905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47544" y="4966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21087" y="4887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边界条件、并发安全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7446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异常处理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733" y="4966335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dag_test.go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Rectangle 38"/>
          <p:cNvSpPr/>
          <p:nvPr/>
        </p:nvSpPr>
        <p:spPr>
          <a:xfrm>
            <a:off x="1333500" y="5905500"/>
            <a:ext cx="9525000" cy="571500"/>
          </a:xfrm>
          <a:prstGeom prst="roundRect">
            <a:avLst>
              <a:gd name="adj" fmla="val 1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48145" y="6109335"/>
            <a:ext cx="5295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每个环节 review 不合格，不往下传递 · 避免"AI 生成完就直接用"的陷阱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747706" y="2326958"/>
            <a:ext cx="4696587" cy="1450276"/>
            <a:chOff x="3747706" y="2326958"/>
            <a:chExt cx="4696587" cy="1450276"/>
          </a:xfrm>
        </p:grpSpPr>
        <p:sp>
          <p:nvSpPr>
            <p:cNvPr id="7" name="TextBox 7"/>
            <p:cNvSpPr txBox="1"/>
            <p:nvPr/>
          </p:nvSpPr>
          <p:spPr>
            <a:xfrm>
              <a:off x="3747706" y="23269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04167" y="3044190"/>
              <a:ext cx="4183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减少 coding 成本 → 有更高标准要求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6212" y="3425190"/>
              <a:ext cx="3919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不满足于"能跑"，持续追求更好体验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49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可视化演进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1333500" y="2095500"/>
            <a:ext cx="9525000" cy="799814"/>
            <a:chOff x="1333500" y="2095500"/>
            <a:chExt cx="9525000" cy="799814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544" y="25141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自定义 SVG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6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水平布局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7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6660" y="2514124"/>
              <a:ext cx="827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VueFlow 框架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1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节点拖拽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4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6692" y="2514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5241" y="2704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DFS 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6574" y="2514124"/>
              <a:ext cx="58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Sugiyama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3619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8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0" y="2095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773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V3.0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25741" y="25141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ELK 布局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05264" y="2704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实时执行状态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3238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291514" y="3409950"/>
            <a:ext cx="16089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 轮深色模式优化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01412" y="3728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持续追求视觉体验的完美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高并发实时进度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聚合视图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585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按节点聚合展示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8232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通过/失败/跳过/运行中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单链路视图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1404" y="2585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选择具体链路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查看循环进度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高并发优化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3918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链路选择器冻结快照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4156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防止跳动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实时推送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1404" y="3918585"/>
              <a:ext cx="1557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实时推送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4156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200ms 节流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403446" y="2326958"/>
            <a:ext cx="3385109" cy="1069276"/>
            <a:chOff x="4403446" y="2326958"/>
            <a:chExt cx="3385109" cy="1069276"/>
          </a:xfrm>
        </p:grpSpPr>
        <p:sp>
          <p:nvSpPr>
            <p:cNvPr id="7" name="TextBox 7"/>
            <p:cNvSpPr txBox="1"/>
            <p:nvPr/>
          </p:nvSpPr>
          <p:spPr>
            <a:xfrm>
              <a:off x="4807839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03446" y="30441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助力，让繁琐工作变得高效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4191000"/>
            <a:ext cx="9525000" cy="1143000"/>
            <a:chOff x="1333500" y="4191000"/>
            <a:chExt cx="95250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13335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9433" y="4378642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scripts/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229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1512" y="4982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一键执行复杂任务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95185" y="4378642"/>
              <a:ext cx="801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Makefile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8604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自动化构建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37288" y="4982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标准化流程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9418" y="437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文档生成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0566" y="4680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自动生成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0363" y="4982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减少手动维护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效率提升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99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以前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667000"/>
              <a:ext cx="22860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49168" y="2902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人写脚本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9544" y="3299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心智负担重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03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容易出错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0954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维护成本高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99252" y="2910840"/>
              <a:ext cx="3934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0" y="209550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0" y="2667000"/>
              <a:ext cx="1905000" cy="19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3704" y="29022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助力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91500" y="3299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高效且保障质量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3044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自动化生成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3816" y="4061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易于维护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308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评估与实现分离：不盲目相信 AI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89576" y="2472690"/>
              <a:ext cx="2212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Anthropic 最佳实践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7111" y="2886075"/>
              <a:ext cx="4957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会高估自己的工作质量，必须将生成和评估分离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8404" y="4394835"/>
              <a:ext cx="27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同一次会话中"自己审自己"会自我原谅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8404" y="5156835"/>
              <a:ext cx="52660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多方案对比：让 AI 给多套方案，不选工作量小的，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而选对需求完成度最有利的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8404" y="5918835"/>
              <a:ext cx="5917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独立评估会话：用另一个 AI 会话来评估方案合理性，追问原理，不完全相信 AI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实践案例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609600" y="1905000"/>
            <a:ext cx="10972800" cy="3048000"/>
            <a:chOff x="609600" y="1905000"/>
            <a:chExt cx="10972800" cy="30480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73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43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38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7509" y="271176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引擎设计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2762" y="264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实现拓扑排序算法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2086" y="2887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2938" y="2648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评估算法正确性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3613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边界条件审查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38500"/>
              <a:ext cx="10972800" cy="857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2931" y="3569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加密插件开发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7154" y="35061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 AES-CBC 加密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2086" y="3744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4288" y="3506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评估安全性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2262" y="3744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性能、兼容性审查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957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52931" y="4426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前端组件重构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7413" y="4363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重构 DAG 可视化组件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2086" y="4601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613" y="4363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评估用户体验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3613" y="4601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性能影响审查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Rectangle 30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735400" y="5728335"/>
            <a:ext cx="4721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实现会话：专注编码，快速迭代 · 评估会话：专注审查，发现问题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97552" y="60140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人工介入：看代码、问原理、做决策</a:t>
            </a:r>
            <a:endParaRPr lang="zh-CN" sz="12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关键原则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8642" y="2283142"/>
              <a:ext cx="1740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可以 24 小时工作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但人必须保持清醒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1642" y="2283142"/>
              <a:ext cx="149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不追求"最快完成"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而追求"最好完成"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3966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是成本最低的优化方式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1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追问原理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3966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是建立技术判断力的关键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38100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核心洞察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AI 辅助开发的质量护城河：五道防线，层层递进</a:t>
            </a:r>
          </a:p>
        </p:txBody>
      </p:sp>
      <p:sp>
        <p:nvSpPr>
          <p:cNvPr id="12" name="Freeform 12"/>
          <p:cNvSpPr/>
          <p:nvPr/>
        </p:nvSpPr>
        <p:spPr>
          <a:xfrm>
            <a:off x="952500" y="228600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238250" y="245745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5B8DE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Freeform 15"/>
          <p:cNvSpPr/>
          <p:nvPr/>
        </p:nvSpPr>
        <p:spPr>
          <a:xfrm>
            <a:off x="1809750" y="24765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7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严格的 AI 辅助流程</a:t>
            </a:r>
          </a:p>
        </p:txBody>
      </p:sp>
      <p:sp>
        <p:nvSpPr>
          <p:cNvPr id="17" name="Freeform 17"/>
          <p:cNvSpPr/>
          <p:nvPr/>
        </p:nvSpPr>
        <p:spPr>
          <a:xfrm>
            <a:off x="1809750" y="272415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8A92A6"/>
                </a:solidFill>
                <a:latin typeface="Arial"/>
                <a:ea typeface="Microsoft YaHei"/>
                <a:cs typeface="Arial"/>
              </a:rPr>
              <a:t>brainstorming→OpenSpec→TDD→checklist→git，每步有知识库约束</a:t>
            </a:r>
          </a:p>
        </p:txBody>
      </p:sp>
      <p:sp>
        <p:nvSpPr>
          <p:cNvPr id="19" name="Freeform 19"/>
          <p:cNvSpPr/>
          <p:nvPr/>
        </p:nvSpPr>
        <p:spPr>
          <a:xfrm>
            <a:off x="952500" y="323850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EDF1F9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1238250" y="340995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5B8DE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Freeform 22"/>
          <p:cNvSpPr/>
          <p:nvPr/>
        </p:nvSpPr>
        <p:spPr>
          <a:xfrm>
            <a:off x="1809750" y="3429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7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3458B0"/>
                </a:solidFill>
                <a:latin typeface="Arial"/>
                <a:ea typeface="Microsoft YaHei"/>
                <a:cs typeface="Arial"/>
              </a:rPr>
              <a:t>流水线每一步文档 review</a:t>
            </a:r>
          </a:p>
        </p:txBody>
      </p:sp>
      <p:sp>
        <p:nvSpPr>
          <p:cNvPr id="24" name="Freeform 24"/>
          <p:cNvSpPr/>
          <p:nvPr/>
        </p:nvSpPr>
        <p:spPr>
          <a:xfrm>
            <a:off x="1809750" y="367665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上游输出是下游输入，每环节代入角色 review，确保产出 ≥ 90 分</a:t>
            </a:r>
          </a:p>
        </p:txBody>
      </p:sp>
      <p:sp>
        <p:nvSpPr>
          <p:cNvPr id="26" name="Freeform 26"/>
          <p:cNvSpPr/>
          <p:nvPr/>
        </p:nvSpPr>
        <p:spPr>
          <a:xfrm>
            <a:off x="952500" y="419100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D6E0F5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1238250" y="436245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3458B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Freeform 29"/>
          <p:cNvSpPr/>
          <p:nvPr/>
        </p:nvSpPr>
        <p:spPr>
          <a:xfrm>
            <a:off x="1809750" y="43815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7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1F3A78"/>
                </a:solidFill>
                <a:latin typeface="Arial"/>
                <a:ea typeface="Microsoft YaHei"/>
                <a:cs typeface="Arial"/>
              </a:rPr>
              <a:t>知识库 + Lessons Learned 提前预防</a:t>
            </a:r>
          </a:p>
        </p:txBody>
      </p:sp>
      <p:sp>
        <p:nvSpPr>
          <p:cNvPr id="31" name="Freeform 31"/>
          <p:cNvSpPr/>
          <p:nvPr/>
        </p:nvSpPr>
        <p:spPr>
          <a:xfrm>
            <a:off x="1809750" y="462915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3458B0"/>
                </a:solidFill>
                <a:latin typeface="Arial"/>
                <a:ea typeface="Microsoft YaHei"/>
                <a:cs typeface="Arial"/>
              </a:rPr>
              <a:t>8 个 Lessons Learned 案例，1660 行知识按需加载，避免重复踩坑</a:t>
            </a:r>
          </a:p>
        </p:txBody>
      </p:sp>
      <p:sp>
        <p:nvSpPr>
          <p:cNvPr id="33" name="Freeform 33"/>
          <p:cNvSpPr/>
          <p:nvPr/>
        </p:nvSpPr>
        <p:spPr>
          <a:xfrm>
            <a:off x="952500" y="514350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1238250" y="531495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30480" rIns="0" bIns="0" anchor="t" anchorCtr="0">
            <a:no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6" name="Freeform 36"/>
          <p:cNvSpPr/>
          <p:nvPr/>
        </p:nvSpPr>
        <p:spPr>
          <a:xfrm>
            <a:off x="1809750" y="5334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8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单元测试</a:t>
            </a:r>
          </a:p>
        </p:txBody>
      </p:sp>
      <p:sp>
        <p:nvSpPr>
          <p:cNvPr id="38" name="Freeform 38"/>
          <p:cNvSpPr/>
          <p:nvPr/>
        </p:nvSpPr>
        <p:spPr>
          <a:xfrm>
            <a:off x="1809750" y="558165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0006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DCE1EA"/>
                </a:solidFill>
                <a:latin typeface="Arial"/>
                <a:ea typeface="Microsoft YaHei"/>
                <a:cs typeface="Arial"/>
              </a:rPr>
              <a:t>84 个测试文件，TDD 红绿重构，覆盖率 60.8%，对抗 AI Slop 最后防线</a:t>
            </a:r>
          </a:p>
        </p:txBody>
      </p:sp>
      <p:sp>
        <p:nvSpPr>
          <p:cNvPr id="40" name="Freeform 40"/>
          <p:cNvSpPr/>
          <p:nvPr/>
        </p:nvSpPr>
        <p:spPr>
          <a:xfrm>
            <a:off x="952500" y="6096000"/>
            <a:ext cx="10287000" cy="571500"/>
          </a:xfrm>
          <a:prstGeom prst="roundRect">
            <a:avLst>
              <a:gd name="adj" fmla="val 13333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1238250" y="621982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15240" rIns="0" bIns="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rgbClr val="5B8DE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3" name="Freeform 43"/>
          <p:cNvSpPr/>
          <p:nvPr/>
        </p:nvSpPr>
        <p:spPr>
          <a:xfrm>
            <a:off x="1809750" y="6219825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25718" rIns="0" bIns="0" anchor="t" anchorCtr="0">
            <a:no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人工测试兜底</a:t>
            </a:r>
          </a:p>
        </p:txBody>
      </p:sp>
      <p:sp>
        <p:nvSpPr>
          <p:cNvPr id="45" name="Freeform 45"/>
          <p:cNvSpPr/>
          <p:nvPr/>
        </p:nvSpPr>
        <p:spPr>
          <a:xfrm>
            <a:off x="1809750" y="6467475"/>
            <a:ext cx="8763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DCE1EA"/>
                </a:solidFill>
                <a:latin typeface="Arial"/>
                <a:ea typeface="Microsoft YaHei"/>
                <a:cs typeface="Arial"/>
              </a:rPr>
              <a:t>不信任 AI 的"完成"声明，用实际运行验证代码质量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15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生成代码的高频翻车清单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884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知道 AI 会在哪里翻车，提前设防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2095500"/>
            <a:ext cx="9525000" cy="3619500"/>
            <a:chOff x="1333500" y="2095500"/>
            <a:chExt cx="9525000" cy="36195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6880" y="2266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892" y="2283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5850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空值、极端输入、并发场景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048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6880" y="3219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3892" y="3235642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404" y="3537585"/>
              <a:ext cx="2589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 拼接、XSS 过滤存在绕过路径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4000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6880" y="4171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3892" y="4188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8404" y="44900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接口契约、数据格式、异常传播链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6880" y="5124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3892" y="51406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54425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性能、可观测性、容错降级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671639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案例</a:t>
            </a:r>
            <a:r>
              <a:rPr lang="en-US" alt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知识库预防——统一规范避免不一致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2467" y="2283142"/>
              <a:ext cx="217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number-formatting.md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145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9166" y="2791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数值格式化规范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547" y="3085624"/>
              <a:ext cx="1322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百分比统一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547" y="3323749"/>
              <a:ext cx="1272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QPS 保留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5618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延迟自动切换单位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9547" y="379999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&lt;1s 显示 ms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547" y="4038124"/>
              <a:ext cx="643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≥1s 显示 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9241" y="2283142"/>
              <a:ext cx="147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chart-style.md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2916" y="2791778"/>
              <a:ext cx="1211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ECharts 图表样式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3297" y="308562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预计算布尔变量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3297" y="3323749"/>
              <a:ext cx="122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禁止使用 sampling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3297" y="3561874"/>
              <a:ext cx="1533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setOption 必须传 true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29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颜色语义化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3297" y="4038124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响应式配置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9320" y="2283142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ui-spacing.md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6666" y="2791778"/>
              <a:ext cx="788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间距规范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30856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卡片间距统一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7047" y="33237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按钮内边距统一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7047" y="356187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避免视觉不一致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704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响应式断点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7047" y="40381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组件层级规范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02666" y="505778"/>
            <a:ext cx="35687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en-US" alt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X</a:t>
            </a:r>
            <a:endParaRPr lang="en-US" alt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28231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案例</a:t>
            </a:r>
            <a:r>
              <a:rPr lang="en-US" alt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单元测试体验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21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时代的 UT 实践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09600" y="1905000"/>
            <a:ext cx="5143500" cy="2857500"/>
            <a:chOff x="609600" y="1905000"/>
            <a:chExt cx="5143500" cy="2857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285750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880" y="2076450"/>
              <a:ext cx="1466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Salvo TDD 策略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489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666" y="2744152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666" y="2982278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666" y="32204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585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3839528"/>
              <a:ext cx="1598930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90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50</a:t>
              </a:r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sym typeface="+mn-ea"/>
                </a:rPr>
                <a:t>非核心模块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4204335"/>
              <a:ext cx="127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8047" y="4466749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8900" y="1905000"/>
            <a:ext cx="5143500" cy="1333500"/>
            <a:chOff x="6438900" y="1905000"/>
            <a:chExt cx="51435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438900" y="190500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4180" y="2076450"/>
              <a:ext cx="102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Salvo 实践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5798" y="2279332"/>
              <a:ext cx="44450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880" y="24574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_test.go 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5704" y="2823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每个模块都有对应测试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38900" y="3429000"/>
            <a:ext cx="5143500" cy="1905000"/>
            <a:chOff x="6438900" y="3429000"/>
            <a:chExt cx="5143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438900" y="3429000"/>
              <a:ext cx="5143500" cy="19050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42" y="3616642"/>
              <a:ext cx="257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生成代码的"高频翻车清单"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6466" y="39824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6466" y="4220528"/>
              <a:ext cx="1410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6466" y="44586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6466" y="4696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160660" y="5758815"/>
            <a:ext cx="3870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UT 是对抗 AI Slop 的最后一道防线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34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5238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单元测试示例：全链路验证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TestSOPlugin_FullChain — 6 步串联 4 个组件层，无 mock 核心环节</a:t>
            </a:r>
            <a:endParaRPr lang="zh-CN" sz="13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33500" y="2095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28750" y="21907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905000" y="2209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API 上传插件记录 → HTTP POST /so-plugins/create → SQLite 持久化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333500" y="2762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428750" y="2857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905000" y="2876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创建表达式函数注册表 → expr.NewFunctionRegistry()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333500" y="34290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428750" y="35242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905000" y="3543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Loader 注册内存插件 → so.NewLoader().Register(aesPlugin)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333500" y="40957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428750" y="41910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1905000" y="42100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注册 __so 桥接函数 → so.RegisterSO(reg, loader)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333500" y="4762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428750" y="485775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lang="en-US" sz="1350" b="1" dirty="0">
              <a:solidFill>
                <a:srgbClr val="3458B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905000" y="4876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表达式引擎调用插件加解密 → encrypt → decrypt 验证往返一致</a:t>
            </a:r>
            <a:endParaRPr lang="zh-CN" sz="1200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333500" y="5429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428750" y="5524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1905000" y="5543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回查 DB 验证记录仍存在 → POST /so-plugins/get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6858000" y="2095500"/>
            <a:ext cx="4000500" cy="390525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7239000" y="2333625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715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亮</a:t>
            </a:r>
            <a:r>
              <a:rPr lang="zh-CN" sz="150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点</a:t>
            </a:r>
            <a:endParaRPr lang="zh-CN" sz="1500" b="1" dirty="0">
              <a:solidFill>
                <a:srgbClr val="3458B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7239000" y="2952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链路长且每一环真实执行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7239000" y="3190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HTTP API → 鉴权 → 数据库 → 插件加载器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7239000" y="33813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→ 表达式引擎 → AES 加密算法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7239000" y="38100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加密→解密→断言原文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3" name="Freeform 53"/>
          <p:cNvSpPr/>
          <p:nvPr/>
        </p:nvSpPr>
        <p:spPr>
          <a:xfrm>
            <a:off x="7239000" y="4048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业务闭环验证逻辑直观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5" name="Freeform 55"/>
          <p:cNvSpPr/>
          <p:nvPr/>
        </p:nvSpPr>
        <p:spPr>
          <a:xfrm>
            <a:off x="7239000" y="4476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覆盖三大特色模块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7239000" y="4714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SO 插件热加载 + 表达式引擎 + API 层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9" name="Freeform 59"/>
          <p:cNvSpPr/>
          <p:nvPr/>
        </p:nvSpPr>
        <p:spPr>
          <a:xfrm>
            <a:off x="7239000" y="51435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无 mock 核心环节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7239000" y="53816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没有 mock 掉数据库、插件加载、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3" name="Freeform 63"/>
          <p:cNvSpPr/>
          <p:nvPr/>
        </p:nvSpPr>
        <p:spPr>
          <a:xfrm>
            <a:off x="7239000" y="5572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表达式引擎等核心组件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595884" y="851535"/>
            <a:ext cx="41965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单元测试实际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效果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39982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知识库 + 测试 = 双重防线，提前设防 AI 翻车点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33500" y="2095500"/>
            <a:ext cx="9525000" cy="3429000"/>
            <a:chOff x="1333500" y="2095500"/>
            <a:chExt cx="9525000" cy="3429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35246" y="23307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每个模块都有对应的 _test.go 文件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6910" y="2529840"/>
              <a:ext cx="678180" cy="738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3555" y="3171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个测试文件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7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4143375"/>
              <a:ext cx="3810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79512" y="422052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4476750"/>
              <a:ext cx="30480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79512" y="45539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76500" y="4810125"/>
              <a:ext cx="22860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8836" y="4887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0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3784" y="4042410"/>
              <a:ext cx="32035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%核心包，</a:t>
              </a:r>
              <a:r>
                <a:rPr 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</a:t>
              </a:r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60.8%</a:t>
              </a:r>
              <a:endPara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4490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行覆盖率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404" y="48710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2547" y="513349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5323999"/>
              <a:ext cx="161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httptest + go test -race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32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2857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Salvo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质量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画像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1333500" y="2095500"/>
            <a:ext cx="9715500" cy="1333500"/>
            <a:chOff x="1333500" y="2095500"/>
            <a:chExt cx="9715500" cy="1333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9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Git 提交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619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212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19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bugfix 80 (37.7%)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810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95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业务代码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095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59K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95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Go 43.3K + Vue 15.3K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2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测试文件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572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84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572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Go *_test.go 文件</a:t>
              </a:r>
              <a:endParaRPr lang="zh-CN" sz="105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763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48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覆盖率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048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60.8%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048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核心引擎 </a:t>
              </a:r>
              <a:r>
                <a:rPr lang="en-US" alt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92</a:t>
              </a:r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%</a:t>
              </a:r>
              <a:endParaRPr lang="zh-CN" sz="105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39" name="Freeform 39"/>
            <p:cNvSpPr/>
            <p:nvPr/>
          </p:nvSpPr>
          <p:spPr>
            <a:xfrm>
              <a:off x="1333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707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后端 Go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7084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3, 342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行 / 1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84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文件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7084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internal/ + cmd/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720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9461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前端 Vue+TS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9469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15,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944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行 / 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85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文件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Freeform 51"/>
            <p:cNvSpPr/>
            <p:nvPr/>
          </p:nvSpPr>
          <p:spPr>
            <a:xfrm>
              <a:off x="49469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web/src/ 组件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810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184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项目周期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185404" y="4490085"/>
              <a:ext cx="1428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54 活跃天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185404" y="4728210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2026-05-01 ~ 09-07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fld id="{4AA35328-DC2B-43F3-AC02-5AC15E73F24F}" type="slidenum"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Salvo</a:t>
            </a:r>
            <a:r>
              <a:rPr lang="zh-CN" altLang="en-US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效率画像——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Git 提交趋势（按天统计）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总计 212 次提交 · 54 个活跃天（</a:t>
            </a:r>
            <a:r>
              <a:rPr lang="zh-CN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平均每天约</a:t>
            </a:r>
            <a:r>
              <a:rPr lang="en-US" altLang="zh-CN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1/4 ~ 1/3</a:t>
            </a:r>
            <a:r>
              <a:rPr lang="zh-CN" altLang="en-US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投入</a:t>
            </a:r>
            <a:r>
              <a:rPr lang="zh-CN" altLang="en-US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）</a:t>
            </a:r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 · bugfix 80 次（37.7%）</a:t>
            </a:r>
            <a:endParaRPr lang="zh-CN" sz="13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33500" y="5334000"/>
            <a:ext cx="9525000" cy="19050"/>
          </a:xfrm>
          <a:prstGeom prst="rect">
            <a:avLst/>
          </a:prstGeom>
          <a:solidFill>
            <a:srgbClr val="DCE1E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333500" y="3679508"/>
            <a:ext cx="148590" cy="1654492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1501140" y="2476500"/>
            <a:ext cx="148590" cy="2857500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668780" y="3830002"/>
            <a:ext cx="148590" cy="150399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354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200310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217074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233838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250602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267271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2840355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300799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317563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334232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350996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367760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384524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40128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41795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434721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51485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468249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4850130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5016818" y="3529012"/>
            <a:ext cx="148590" cy="180498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518445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535209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551973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5687378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5854065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02170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6189345" y="3980498"/>
            <a:ext cx="148590" cy="135350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635698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652367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669131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858952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702659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719423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736092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752856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1" name="Freeform 51"/>
          <p:cNvSpPr/>
          <p:nvPr/>
        </p:nvSpPr>
        <p:spPr>
          <a:xfrm>
            <a:off x="769620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7863840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3" name="Freeform 53"/>
          <p:cNvSpPr/>
          <p:nvPr/>
        </p:nvSpPr>
        <p:spPr>
          <a:xfrm>
            <a:off x="803148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81981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836580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853344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8701088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8" name="Freeform 58"/>
          <p:cNvSpPr/>
          <p:nvPr/>
        </p:nvSpPr>
        <p:spPr>
          <a:xfrm>
            <a:off x="886872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9035415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9203055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937069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2" name="Freeform 62"/>
          <p:cNvSpPr/>
          <p:nvPr/>
        </p:nvSpPr>
        <p:spPr>
          <a:xfrm>
            <a:off x="9538335" y="4281488"/>
            <a:ext cx="148590" cy="105251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3" name="Freeform 63"/>
          <p:cNvSpPr/>
          <p:nvPr/>
        </p:nvSpPr>
        <p:spPr>
          <a:xfrm>
            <a:off x="970502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4" name="Freeform 64"/>
          <p:cNvSpPr/>
          <p:nvPr/>
        </p:nvSpPr>
        <p:spPr>
          <a:xfrm>
            <a:off x="987266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5" name="Freeform 65"/>
          <p:cNvSpPr/>
          <p:nvPr/>
        </p:nvSpPr>
        <p:spPr>
          <a:xfrm>
            <a:off x="1004030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6" name="Freeform 66"/>
          <p:cNvSpPr/>
          <p:nvPr/>
        </p:nvSpPr>
        <p:spPr>
          <a:xfrm>
            <a:off x="1020794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7" name="Freeform 67"/>
          <p:cNvSpPr/>
          <p:nvPr/>
        </p:nvSpPr>
        <p:spPr>
          <a:xfrm>
            <a:off x="103755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8" name="Freeform 68"/>
          <p:cNvSpPr/>
          <p:nvPr/>
        </p:nvSpPr>
        <p:spPr>
          <a:xfrm>
            <a:off x="105422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1070991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70" name="Freeform 70"/>
          <p:cNvSpPr/>
          <p:nvPr/>
        </p:nvSpPr>
        <p:spPr>
          <a:xfrm>
            <a:off x="121729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05月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2" name="Freeform 72"/>
          <p:cNvSpPr/>
          <p:nvPr/>
        </p:nvSpPr>
        <p:spPr>
          <a:xfrm>
            <a:off x="439864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06月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4" name="Freeform 74"/>
          <p:cNvSpPr/>
          <p:nvPr/>
        </p:nvSpPr>
        <p:spPr>
          <a:xfrm>
            <a:off x="6073140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07月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8417242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08月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8" name="Freeform 78"/>
          <p:cNvSpPr/>
          <p:nvPr/>
        </p:nvSpPr>
        <p:spPr>
          <a:xfrm>
            <a:off x="9924098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09月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095375" y="2190750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8763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A3D7A"/>
                </a:solidFill>
                <a:latin typeface="Arial" panose="020B0604020202090204"/>
                <a:ea typeface="微软雅黑"/>
                <a:cs typeface="Arial" panose="020B0604020202090204"/>
              </a:rPr>
              <a:t>19次 (5/2)</a:t>
            </a:r>
            <a:endParaRPr lang="zh-CN" sz="1200" b="1" dirty="0">
              <a:solidFill>
                <a:srgbClr val="1A3D7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2" name="Freeform 82"/>
          <p:cNvSpPr/>
          <p:nvPr/>
        </p:nvSpPr>
        <p:spPr>
          <a:xfrm>
            <a:off x="1333500" y="5905500"/>
            <a:ext cx="9525000" cy="38100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83" name="Freeform 83"/>
          <p:cNvSpPr/>
          <p:nvPr/>
        </p:nvSpPr>
        <p:spPr>
          <a:xfrm>
            <a:off x="1714500" y="600075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ctr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2026-05-01 ~ 09-07 · 6-7月为开发高峰期 · 8-9月趋于稳定迭代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20034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 个体验总结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1333500" y="1714500"/>
            <a:ext cx="9525000" cy="3619500"/>
            <a:chOff x="1333500" y="1714500"/>
            <a:chExt cx="9525000" cy="3619500"/>
          </a:xfrm>
        </p:grpSpPr>
        <p:sp>
          <p:nvSpPr>
            <p:cNvPr id="5" name="Rectangle 5"/>
            <p:cNvSpPr/>
            <p:nvPr/>
          </p:nvSpPr>
          <p:spPr>
            <a:xfrm>
              <a:off x="1333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05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3892" y="190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58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6892" y="1902142"/>
              <a:ext cx="2779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知识沉淀：AI高效Coding的护城河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5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3892" y="2854642"/>
              <a:ext cx="295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流水线质量管控：对抗 "AI Slop"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8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6892" y="2854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05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3892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8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6892" y="3807142"/>
              <a:ext cx="2730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评估与实现分离：不盲目相信 AI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33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05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3892" y="4759642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时代的质量画像：知识库预防 + 测试覆盖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8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6892" y="4759642"/>
              <a:ext cx="277241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工程化流程：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 + OpenSpec + 人工验证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60720" y="583692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</a:t>
            </a:r>
            <a:endParaRPr lang="zh-CN" sz="24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725668" y="6331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问答环节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programming-practice">
  <a:themeElements>
    <a:clrScheme name="ai-programming-practice">
      <a:dk1>
        <a:srgbClr val="1A1D26"/>
      </a:dk1>
      <a:lt1>
        <a:srgbClr val="FFFFFF"/>
      </a:lt1>
      <a:dk2>
        <a:srgbClr val="1F497D"/>
      </a:dk2>
      <a:lt2>
        <a:srgbClr val="F4F6FA"/>
      </a:lt2>
      <a:accent1>
        <a:srgbClr val="3458B0"/>
      </a:accent1>
      <a:accent2>
        <a:srgbClr val="1F3A78"/>
      </a:accent2>
      <a:accent3>
        <a:srgbClr val="5B8DEF"/>
      </a:accent3>
      <a:accent4>
        <a:srgbClr val="3458B0"/>
      </a:accent4>
      <a:accent5>
        <a:srgbClr val="59606E"/>
      </a:accent5>
      <a:accent6>
        <a:srgbClr val="DCE1EA"/>
      </a:accent6>
      <a:hlink>
        <a:srgbClr val="1F3A78"/>
      </a:hlink>
      <a:folHlink>
        <a:srgbClr val="5B8DEF"/>
      </a:folHlink>
    </a:clrScheme>
    <a:fontScheme name="ai-programming-practi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programming-pract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5571</ns0:Words>
  <ns0:Application>WPS 演示</ns0:Application>
  <ns0:PresentationFormat>On-screen Show (16:9)</ns0:PresentationFormat>
  <ns0:Paragraphs>1161</ns0:Paragraphs>
  <ns0:Slides>35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15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34</ns1:i4>
      </ns1:variant>
    </ns1:vector>
  </ns0:HeadingPairs>
  <ns0:TitlesOfParts>
    <ns1:vector size="50" baseType="lpstr">
      <ns1:lpstr>Arial</ns1:lpstr>
      <ns1:lpstr>宋体</ns1:lpstr>
      <ns1:lpstr>Wingdings</ns1:lpstr>
      <ns1:lpstr>Arial</ns1:lpstr>
      <ns1:lpstr>微软雅黑</ns1:lpstr>
      <ns1:lpstr>汉仪旗黑</ns1:lpstr>
      <ns1:lpstr>微软雅黑</ns1:lpstr>
      <ns1:lpstr>宋体</ns1:lpstr>
      <ns1:lpstr>Arial Unicode MS</ns1:lpstr>
      <ns1:lpstr>Calibri</ns1:lpstr>
      <ns1:lpstr>Helvetica Neue</ns1:lpstr>
      <ns1:lpstr>宋体-简</ns1:lpstr>
      <ns1:lpstr>微软雅黑</ns1:lpstr>
      <ns1:lpstr>儷宋 Pro</ns1:lpstr>
      <ns1:lpstr>微软雅黑</ns1:lpstr>
      <ns1:lpstr>ai-programming-practice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WPS_1788569682</cp:lastModifiedBy>
  <cp:revision>63</cp:revision>
  <dcterms:created xsi:type="dcterms:W3CDTF">2026-09-08T03:16:59Z</dcterms:created>
  <dcterms:modified xsi:type="dcterms:W3CDTF">2026-09-08T03:16:59Z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A40D0D0131D7B8AF4D839E6A552E7DB4_42</vt:lpwstr>
  </property>
  <property fmtid="{D5CDD505-2E9C-101B-9397-08002B2CF9AE}" pid="3" name="KSOProductBuildVer">
    <vt:lpwstr>2052-12.1.25898.25898</vt:lpwstr>
  </property>
</Properties>
</file>