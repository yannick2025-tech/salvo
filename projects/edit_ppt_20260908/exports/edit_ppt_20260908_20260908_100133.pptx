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1_tf2.xml" ContentType="application/vnd.openxmlformats-officedocument.presentationml.notes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2_tf1.xml" ContentType="application/vnd.openxmlformats-officedocument.presentationml.notes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autoCompressPictures="0">
  <p:sldMasterIdLst>
    <p:sldMasterId id="2147483648" r:id="rId1"/>
  </p:sldMasterIdLst>
  <p:notesMasterIdLst>
    <p:notesMasterId r:id="rId10"/>
  </p:notesMasterIdLst>
  <p:handoutMasterIdLst>
    <p:handoutMasterId r:id="rId35"/>
  </p:handout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2" r:id="rId55"/>
    <p:sldId id="273" r:id="rId56"/>
    <p:sldId id="274" r:id="rId57"/>
    <p:sldId id="275" r:id="rId58"/>
    <p:sldId id="276" r:id="rId59"/>
    <p:sldId id="277" r:id="rId60"/>
    <p:sldId id="278" r:id="rId61"/>
    <p:sldId id="279" r:id="rId62"/>
    <p:sldId id="280" r:id="rId63"/>
    <p:sldId id="281" r:id="rId64"/>
    <p:sldId id="282" r:id="rId65"/>
    <p:sldId id="283" r:id="rId66"/>
    <p:sldId id="284" r:id="rId67"/>
    <p:sldId id="285" r:id="rId68"/>
    <p:sldId id="286" r:id="rId69"/>
    <p:sldId id="287" r:id="rId70"/>
    <p:sldId id="288" r:id="rId71"/>
    <p:sldId id="289" r:id="rId72"/>
    <p:sldId id="290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8" Type="http://schemas.openxmlformats.org/officeDocument/2006/relationships/tableStyles" Target="tableStyles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35" Type="http://schemas.openxmlformats.org/officeDocument/2006/relationships/handoutMaster" Target="handoutMasters/handoutMaster1.xml" /><Relationship Id="rId2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39" Type="http://schemas.openxmlformats.org/officeDocument/2006/relationships/slide" Target="slides/slide1.xml" /><Relationship Id="rId40" Type="http://schemas.openxmlformats.org/officeDocument/2006/relationships/slide" Target="slides/slide2.xml" /><Relationship Id="rId41" Type="http://schemas.openxmlformats.org/officeDocument/2006/relationships/slide" Target="slides/slide3.xml" /><Relationship Id="rId42" Type="http://schemas.openxmlformats.org/officeDocument/2006/relationships/slide" Target="slides/slide4.xml" /><Relationship Id="rId43" Type="http://schemas.openxmlformats.org/officeDocument/2006/relationships/slide" Target="slides/slide5.xml" /><Relationship Id="rId44" Type="http://schemas.openxmlformats.org/officeDocument/2006/relationships/slide" Target="slides/slide6.xml" /><Relationship Id="rId45" Type="http://schemas.openxmlformats.org/officeDocument/2006/relationships/slide" Target="slides/slide7.xml" /><Relationship Id="rId46" Type="http://schemas.openxmlformats.org/officeDocument/2006/relationships/slide" Target="slides/slide8.xml" /><Relationship Id="rId47" Type="http://schemas.openxmlformats.org/officeDocument/2006/relationships/slide" Target="slides/slide9.xml" /><Relationship Id="rId48" Type="http://schemas.openxmlformats.org/officeDocument/2006/relationships/slide" Target="slides/slide10.xml" /><Relationship Id="rId49" Type="http://schemas.openxmlformats.org/officeDocument/2006/relationships/slide" Target="slides/slide11.xml" /><Relationship Id="rId50" Type="http://schemas.openxmlformats.org/officeDocument/2006/relationships/slide" Target="slides/slide12.xml" /><Relationship Id="rId51" Type="http://schemas.openxmlformats.org/officeDocument/2006/relationships/slide" Target="slides/slide13.xml" /><Relationship Id="rId52" Type="http://schemas.openxmlformats.org/officeDocument/2006/relationships/slide" Target="slides/slide14.xml" /><Relationship Id="rId53" Type="http://schemas.openxmlformats.org/officeDocument/2006/relationships/slide" Target="slides/slide15.xml" /><Relationship Id="rId54" Type="http://schemas.openxmlformats.org/officeDocument/2006/relationships/slide" Target="slides/slide16.xml" /><Relationship Id="rId55" Type="http://schemas.openxmlformats.org/officeDocument/2006/relationships/slide" Target="slides/slide17.xml" /><Relationship Id="rId56" Type="http://schemas.openxmlformats.org/officeDocument/2006/relationships/slide" Target="slides/slide18.xml" /><Relationship Id="rId57" Type="http://schemas.openxmlformats.org/officeDocument/2006/relationships/slide" Target="slides/slide19.xml" /><Relationship Id="rId58" Type="http://schemas.openxmlformats.org/officeDocument/2006/relationships/slide" Target="slides/slide20.xml" /><Relationship Id="rId59" Type="http://schemas.openxmlformats.org/officeDocument/2006/relationships/slide" Target="slides/slide21.xml" /><Relationship Id="rId60" Type="http://schemas.openxmlformats.org/officeDocument/2006/relationships/slide" Target="slides/slide22.xml" /><Relationship Id="rId61" Type="http://schemas.openxmlformats.org/officeDocument/2006/relationships/slide" Target="slides/slide23.xml" /><Relationship Id="rId62" Type="http://schemas.openxmlformats.org/officeDocument/2006/relationships/slide" Target="slides/slide24.xml" /><Relationship Id="rId63" Type="http://schemas.openxmlformats.org/officeDocument/2006/relationships/slide" Target="slides/slide25.xml" /><Relationship Id="rId64" Type="http://schemas.openxmlformats.org/officeDocument/2006/relationships/slide" Target="slides/slide26.xml" /><Relationship Id="rId65" Type="http://schemas.openxmlformats.org/officeDocument/2006/relationships/slide" Target="slides/slide27.xml" /><Relationship Id="rId66" Type="http://schemas.openxmlformats.org/officeDocument/2006/relationships/slide" Target="slides/slide28.xml" /><Relationship Id="rId67" Type="http://schemas.openxmlformats.org/officeDocument/2006/relationships/slide" Target="slides/slide29.xml" /><Relationship Id="rId68" Type="http://schemas.openxmlformats.org/officeDocument/2006/relationships/slide" Target="slides/slide30.xml" /><Relationship Id="rId69" Type="http://schemas.openxmlformats.org/officeDocument/2006/relationships/slide" Target="slides/slide31.xml" /><Relationship Id="rId70" Type="http://schemas.openxmlformats.org/officeDocument/2006/relationships/slide" Target="slides/slide32.xml" /><Relationship Id="rId71" Type="http://schemas.openxmlformats.org/officeDocument/2006/relationships/slide" Target="slides/slide33.xml" /><Relationship Id="rId72" Type="http://schemas.openxmlformats.org/officeDocument/2006/relationships/slide" Target="slides/slide34.xml" /><Relationship Id="rId73" Type="http://schemas.openxmlformats.org/officeDocument/2006/relationships/slide" Target="slides/slide35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7.xml" /></Relationships>
</file>

<file path=ppt/notesSlides/_rels/notesSlide1_tf2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2.xml" /></Relationships>
</file>

<file path=ppt/notesSlides/_rels/notesSlide2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5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参考：</a:t>
            </a:r>
            <a:r>
              <a:rPr lang="en-US" altLang="zh-CN"/>
              <a:t>https://juejin.cn/post/7643280009974759433</a:t>
            </a:r>
            <a:endParaRPr lang="en-US" altLang="zh-CN"/>
          </a:p>
        </p:txBody>
      </p:sp>
    </p:spTree>
  </p:cSld>
  <p:clrMapOvr>
    <a:masterClrMapping/>
  </p:clrMapOvr>
</p:notes>
</file>

<file path=ppt/notesSlides/notesSlide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参考：</a:t>
            </a:r>
            <a:r>
              <a:rPr lang="en-US" altLang="zh-CN"/>
              <a:t>https://juejin.cn/post/7643280009974759433</a:t>
            </a:r>
            <a:endParaRPr lang="en-US" altLang="zh-CN"/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.xml" /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2.xml" /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2" Type="http://schemas.openxmlformats.org/officeDocument/2006/relationships/notesSlide" Target="../notesSlides/notesSlide2_tf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50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~7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314388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.1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万行 + Vue 1.4 万行 + TS 1300 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62120" y="3758565"/>
              <a:ext cx="36677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今天分享的不是技术细节，而是体验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5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点何用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6928" y="3489960"/>
            <a:ext cx="3192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YAML，借助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117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dagre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关注信息密度，不追求文档数量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06121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80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78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73401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1693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质量数据与 UX 细节打磨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2286000" y="2095500"/>
            <a:ext cx="7620000" cy="1333500"/>
            <a:chOff x="2286000" y="2095500"/>
            <a:chExt cx="7620000" cy="1333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61419" y="2330768"/>
              <a:ext cx="1069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 提交统计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4285583" y="2564130"/>
              <a:ext cx="87620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36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2790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次提交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462" y="2564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92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1380" y="2790825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 bugfix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7752" y="3156585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 45%，体现持续追求质量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13335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71522" y="4204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执行状态徽章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4214" y="4506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4214" y="4744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避免遮挡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6725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6681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图标升级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55263" y="4506278"/>
              <a:ext cx="1481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文字徽章 → Lucide SVG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37288" y="4744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视觉一致性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0056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深色模式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2315" y="450627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轮迭代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29688" y="4744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颜色对比度优化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知识库预防：统一规范避免不一致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95884" y="851535"/>
            <a:ext cx="41965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测试覆盖：84 个测试文件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AI 辅助开发完整工作流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4985" y="2647950"/>
              <a:ext cx="1002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需求澄清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07464" y="2982278"/>
              <a:ext cx="957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brainstorming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52016" y="3172778"/>
              <a:ext cx="126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多方案→确认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35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2672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1A1D26"/>
                  </a:solidFill>
                  <a:latin typeface="Arial"/>
                  <a:ea typeface="Arial"/>
                  <a:cs typeface="Arial"/>
                </a:rPr>
                <a:t>OpenSpec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propose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19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提案→审查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3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37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TDD 实现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codegraph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955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红→绿→重构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88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495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自检→提交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3345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checklist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72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sync→git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45" name="Freeform 45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708404" y="4394835"/>
              <a:ext cx="857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每个阶段由知识库约束：brainstorming→tdd-strategy→codegraph→checklist→git-commit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708404" y="5156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人工确认节点：方案确认→提案审查→测试验证→文档评估→Git提交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708404" y="5918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AI 负责评估和生成，人负责确认和提交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项目质量度量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333500" y="2095500"/>
            <a:ext cx="9715500" cy="1333500"/>
            <a:chOff x="1333500" y="2095500"/>
            <a:chExt cx="9715500" cy="1333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9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Git 提交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19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211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19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bugfix 80 (37.9%)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10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95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业务代码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56K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95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Go 40.8K + Vue 15.3K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测试文件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2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84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2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 *_test.go 文件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763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48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覆盖率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8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60.8%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048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核心引擎 77.6%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1333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07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后端 Go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084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40,760 行 / 169 文件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084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internal/ + cmd/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720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9461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前端 Vue+TS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469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15,282 行 / 41 文件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9469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web/src/ 组件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810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184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185404" y="4490085"/>
              <a:ext cx="142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54 活跃天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185404" y="4728210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2026-05-01 ~ 09-07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Git 提交趋势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AI 辅助开发 vs 传统开发效率对比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3500" y="5334000"/>
            <a:ext cx="9525000" cy="19050"/>
          </a:xfrm>
          <a:prstGeom prst="rect">
            <a:avLst/>
          </a:prstGeom>
          <a:solidFill>
            <a:srgbClr val="DCE1E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714500" y="2743200"/>
            <a:ext cx="1333500" cy="259080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714500" y="247650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381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1A1D2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14500" y="5429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8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5月</a:t>
            </a:r>
          </a:p>
        </p:txBody>
      </p:sp>
      <p:sp>
        <p:nvSpPr>
          <p:cNvPr id="18" name="Freeform 18"/>
          <p:cNvSpPr/>
          <p:nvPr/>
        </p:nvSpPr>
        <p:spPr>
          <a:xfrm>
            <a:off x="3524250" y="3343275"/>
            <a:ext cx="1333500" cy="199072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3524250" y="304800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381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1A1D2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21" name="Freeform 21"/>
          <p:cNvSpPr/>
          <p:nvPr/>
        </p:nvSpPr>
        <p:spPr>
          <a:xfrm>
            <a:off x="3524250" y="5429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8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6月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0" y="2476500"/>
            <a:ext cx="1333500" cy="285750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5334000" y="21907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381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1A1D2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26" name="Freeform 26"/>
          <p:cNvSpPr/>
          <p:nvPr/>
        </p:nvSpPr>
        <p:spPr>
          <a:xfrm>
            <a:off x="5334000" y="5429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8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7月</a:t>
            </a:r>
          </a:p>
        </p:txBody>
      </p:sp>
      <p:sp>
        <p:nvSpPr>
          <p:cNvPr id="28" name="Freeform 28"/>
          <p:cNvSpPr/>
          <p:nvPr/>
        </p:nvSpPr>
        <p:spPr>
          <a:xfrm>
            <a:off x="7143750" y="3829050"/>
            <a:ext cx="1333500" cy="150495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7143750" y="3524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381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1A1D2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1" name="Freeform 31"/>
          <p:cNvSpPr/>
          <p:nvPr/>
        </p:nvSpPr>
        <p:spPr>
          <a:xfrm>
            <a:off x="7143750" y="5429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8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8月</a:t>
            </a:r>
          </a:p>
        </p:txBody>
      </p:sp>
      <p:sp>
        <p:nvSpPr>
          <p:cNvPr id="33" name="Freeform 33"/>
          <p:cNvSpPr/>
          <p:nvPr/>
        </p:nvSpPr>
        <p:spPr>
          <a:xfrm>
            <a:off x="8953500" y="4524375"/>
            <a:ext cx="1333500" cy="80962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953500" y="4238625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381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1A1D2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Freeform 36"/>
          <p:cNvSpPr/>
          <p:nvPr/>
        </p:nvSpPr>
        <p:spPr>
          <a:xfrm>
            <a:off x="8953500" y="54292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8" rIns="0" bIns="0" anchor="t" anchorCtr="0">
            <a:noAutofit/>
          </a:bodyPr>
          <a:lstStyle/>
          <a:p>
            <a:pPr algn="ctr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9月</a:t>
            </a:r>
          </a:p>
        </p:txBody>
      </p:sp>
      <p:sp>
        <p:nvSpPr>
          <p:cNvPr id="38" name="Freeform 38"/>
          <p:cNvSpPr/>
          <p:nvPr/>
        </p:nvSpPr>
        <p:spPr>
          <a:xfrm>
            <a:off x="1333500" y="5905500"/>
            <a:ext cx="9525000" cy="38100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714500" y="60007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ctr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总计 211 次提交 · 54 个活跃天 · 7 月为开发高峰（53 次）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5238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单元测试示例：全链路验证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TestSOPlugin_FullChain — 6 步串联 4 个组件层，无 mock 核心环节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3500" y="2095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28750" y="21907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Freeform 15"/>
          <p:cNvSpPr/>
          <p:nvPr/>
        </p:nvSpPr>
        <p:spPr>
          <a:xfrm>
            <a:off x="1905000" y="2209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API 上传插件记录 → HTTP POST /so-plugins/create → SQLite 持久化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3500" y="2762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428750" y="2857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Freeform 20"/>
          <p:cNvSpPr/>
          <p:nvPr/>
        </p:nvSpPr>
        <p:spPr>
          <a:xfrm>
            <a:off x="1905000" y="2876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创建表达式函数注册表 → expr.NewFunctionRegistry()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33500" y="34290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428750" y="35242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Freeform 25"/>
          <p:cNvSpPr/>
          <p:nvPr/>
        </p:nvSpPr>
        <p:spPr>
          <a:xfrm>
            <a:off x="1905000" y="3543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Loader 注册内存插件 → so.NewLoader().Register(aesPlugin)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33500" y="40957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428750" y="41910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Freeform 30"/>
          <p:cNvSpPr/>
          <p:nvPr/>
        </p:nvSpPr>
        <p:spPr>
          <a:xfrm>
            <a:off x="1905000" y="42100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注册 __so 桥接函数 → so.RegisterSO(reg, loader)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33500" y="4762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428750" y="48577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3458B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Freeform 35"/>
          <p:cNvSpPr/>
          <p:nvPr/>
        </p:nvSpPr>
        <p:spPr>
          <a:xfrm>
            <a:off x="1905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表达式引擎调用插件加解密 → encrypt → decrypt 验证往返一致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33500" y="5429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428750" y="5524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0" name="Freeform 40"/>
          <p:cNvSpPr/>
          <p:nvPr/>
        </p:nvSpPr>
        <p:spPr>
          <a:xfrm>
            <a:off x="1905000" y="5543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回查 DB 验证记录仍存在 → POST /so-plugins/get</a:t>
            </a:r>
          </a:p>
        </p:txBody>
      </p:sp>
      <p:sp>
        <p:nvSpPr>
          <p:cNvPr id="42" name="Freeform 42"/>
          <p:cNvSpPr/>
          <p:nvPr/>
        </p:nvSpPr>
        <p:spPr>
          <a:xfrm>
            <a:off x="6858000" y="2095500"/>
            <a:ext cx="4000500" cy="390525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7239000" y="2333625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3458B0"/>
                </a:solidFill>
                <a:latin typeface="Arial"/>
                <a:ea typeface="Microsoft YaHei"/>
                <a:cs typeface="Arial"/>
              </a:rPr>
              <a:t>为什么适合做示例</a:t>
            </a:r>
          </a:p>
        </p:txBody>
      </p:sp>
      <p:sp>
        <p:nvSpPr>
          <p:cNvPr id="45" name="Freeform 45"/>
          <p:cNvSpPr/>
          <p:nvPr/>
        </p:nvSpPr>
        <p:spPr>
          <a:xfrm>
            <a:off x="7239000" y="2952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链路长且每一环真实执行</a:t>
            </a:r>
          </a:p>
        </p:txBody>
      </p:sp>
      <p:sp>
        <p:nvSpPr>
          <p:cNvPr id="47" name="Freeform 47"/>
          <p:cNvSpPr/>
          <p:nvPr/>
        </p:nvSpPr>
        <p:spPr>
          <a:xfrm>
            <a:off x="7239000" y="3190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HTTP API → 鉴权 → 数据库 → 插件加载器</a:t>
            </a:r>
          </a:p>
        </p:txBody>
      </p:sp>
      <p:sp>
        <p:nvSpPr>
          <p:cNvPr id="49" name="Freeform 49"/>
          <p:cNvSpPr/>
          <p:nvPr/>
        </p:nvSpPr>
        <p:spPr>
          <a:xfrm>
            <a:off x="723900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→ 表达式引擎 → AES 加密算法</a:t>
            </a:r>
          </a:p>
        </p:txBody>
      </p:sp>
      <p:sp>
        <p:nvSpPr>
          <p:cNvPr id="51" name="Freeform 51"/>
          <p:cNvSpPr/>
          <p:nvPr/>
        </p:nvSpPr>
        <p:spPr>
          <a:xfrm>
            <a:off x="7239000" y="38100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加密→解密→断言原文</a:t>
            </a:r>
          </a:p>
        </p:txBody>
      </p:sp>
      <p:sp>
        <p:nvSpPr>
          <p:cNvPr id="53" name="Freeform 53"/>
          <p:cNvSpPr/>
          <p:nvPr/>
        </p:nvSpPr>
        <p:spPr>
          <a:xfrm>
            <a:off x="7239000" y="4048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业务闭环验证逻辑直观</a:t>
            </a:r>
          </a:p>
        </p:txBody>
      </p:sp>
      <p:sp>
        <p:nvSpPr>
          <p:cNvPr id="55" name="Freeform 55"/>
          <p:cNvSpPr/>
          <p:nvPr/>
        </p:nvSpPr>
        <p:spPr>
          <a:xfrm>
            <a:off x="7239000" y="4476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覆盖三大特色模块</a:t>
            </a:r>
          </a:p>
        </p:txBody>
      </p:sp>
      <p:sp>
        <p:nvSpPr>
          <p:cNvPr id="57" name="Freeform 57"/>
          <p:cNvSpPr/>
          <p:nvPr/>
        </p:nvSpPr>
        <p:spPr>
          <a:xfrm>
            <a:off x="7239000" y="4714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SO 插件热加载 + 表达式引擎 + API 层</a:t>
            </a:r>
          </a:p>
        </p:txBody>
      </p:sp>
      <p:sp>
        <p:nvSpPr>
          <p:cNvPr id="59" name="Freeform 59"/>
          <p:cNvSpPr/>
          <p:nvPr/>
        </p:nvSpPr>
        <p:spPr>
          <a:xfrm>
            <a:off x="7239000" y="51435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无 mock 核心环节</a:t>
            </a:r>
          </a:p>
        </p:txBody>
      </p:sp>
      <p:sp>
        <p:nvSpPr>
          <p:cNvPr id="61" name="Freeform 61"/>
          <p:cNvSpPr/>
          <p:nvPr/>
        </p:nvSpPr>
        <p:spPr>
          <a:xfrm>
            <a:off x="7239000" y="53816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没有 mock 掉数据库、插件加载、</a:t>
            </a:r>
          </a:p>
        </p:txBody>
      </p:sp>
      <p:sp>
        <p:nvSpPr>
          <p:cNvPr id="63" name="Freeform 63"/>
          <p:cNvSpPr/>
          <p:nvPr/>
        </p:nvSpPr>
        <p:spPr>
          <a:xfrm>
            <a:off x="7239000" y="5572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表达式引擎等核心组件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4000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62406"/>
            <a:chOff x="1333500" y="5334000"/>
            <a:chExt cx="9525000" cy="962406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4633</ns0:Words>
  <ns0:Application>WPS 演示</ns0:Application>
  <ns0:PresentationFormat>On-screen Show (16:9)</ns0:PresentationFormat>
  <ns0:Paragraphs>1035</ns0:Paragraphs>
  <ns0:Slides>35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31</ns1:i4>
      </ns1:variant>
    </ns1:vector>
  </ns0:HeadingPairs>
  <ns0:TitlesOfParts>
    <ns1:vector size="45" baseType="lpstr">
      <ns1:lpstr>Arial</ns1:lpstr>
      <ns1:lpstr>宋体</ns1:lpstr>
      <ns1:lpstr>Wingdings</ns1:lpstr>
      <ns1:lpstr>Arial</ns1:lpstr>
      <ns1:lpstr>微软雅黑</ns1:lpstr>
      <ns1:lpstr>汉仪旗黑</ns1:lpstr>
      <ns1:lpstr>微软雅黑</ns1:lpstr>
      <ns1:lpstr>宋体</ns1:lpstr>
      <ns1:lpstr>Arial Unicode MS</ns1:lpstr>
      <ns1:lpstr>Calibri</ns1:lpstr>
      <ns1:lpstr>Helvetica Neue</ns1:lpstr>
      <ns1:lpstr>宋体-简</ns1:lpstr>
      <ns1:lpstr>微软雅黑</ns1:lpstr>
      <ns1:lpstr>ai-programming-practice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19</cp:revision>
  <dcterms:created xsi:type="dcterms:W3CDTF">2026-09-07T13:34:04Z</dcterms:created>
  <dcterms:modified xsi:type="dcterms:W3CDTF">2026-09-07T13:34:04Z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